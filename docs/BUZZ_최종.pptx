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79" r:id="rId21"/>
    <p:sldId id="280" r:id="rId22"/>
    <p:sldId id="281" r:id="rId23"/>
    <p:sldId id="267" r:id="rId24"/>
    <p:sldId id="268" r:id="rId25"/>
    <p:sldId id="269" r:id="rId26"/>
    <p:sldId id="270" r:id="rId2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7" d="100"/>
          <a:sy n="77" d="100"/>
        </p:scale>
        <p:origin x="243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3105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0"/>
          </a:solidFill>
          <a:ln w="12700">
            <a:noFill/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F36">
              <a:alpha val="60000"/>
            </a:srgbClr>
          </a:solidFill>
          <a:ln w="12700">
            <a:noFill/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85800" y="68580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2B70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BUZZ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685800" y="1874520"/>
            <a:ext cx="6583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 음향 기반</a:t>
            </a:r>
            <a:endParaRPr lang="en-US" sz="3100" dirty="0"/>
          </a:p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말벌 침입 감지 시스템</a:t>
            </a:r>
            <a:endParaRPr lang="en-US" sz="3100" dirty="0"/>
          </a:p>
        </p:txBody>
      </p:sp>
      <p:sp>
        <p:nvSpPr>
          <p:cNvPr id="7" name="Text 4"/>
          <p:cNvSpPr/>
          <p:nvPr/>
        </p:nvSpPr>
        <p:spPr>
          <a:xfrm>
            <a:off x="731520" y="3337560"/>
            <a:ext cx="6583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7E7A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양봉장 소리 분석 → 위험 알림 → 가상 방어문 상태 확인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" y="5468112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Team BUZZ  ·  홍준희  강성민  김형준  오금빈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31520" y="578815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ADDE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2026.09.15</a:t>
            </a:r>
            <a:endParaRPr lang="en-US" sz="900" dirty="0"/>
          </a:p>
        </p:txBody>
      </p:sp>
      <p:sp>
        <p:nvSpPr>
          <p:cNvPr id="10" name="Oval 9"/>
          <p:cNvSpPr/>
          <p:nvPr/>
        </p:nvSpPr>
        <p:spPr>
          <a:xfrm>
            <a:off x="9692640" y="365760"/>
            <a:ext cx="822960" cy="822960"/>
          </a:xfrm>
          <a:prstGeom prst="ellipse">
            <a:avLst/>
          </a:prstGeom>
          <a:solidFill>
            <a:srgbClr val="F5BE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869680" y="822960"/>
            <a:ext cx="365760" cy="365760"/>
          </a:xfrm>
          <a:prstGeom prst="ellipse">
            <a:avLst/>
          </a:prstGeom>
          <a:solidFill>
            <a:srgbClr val="FFC4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9875520" y="5669280"/>
            <a:ext cx="502920" cy="502920"/>
          </a:xfrm>
          <a:prstGeom prst="ellipse">
            <a:avLst/>
          </a:prstGeom>
          <a:solidFill>
            <a:srgbClr val="FFC4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31520" y="3657600"/>
            <a:ext cx="1280160" cy="54864"/>
          </a:xfrm>
          <a:prstGeom prst="rect">
            <a:avLst/>
          </a:prstGeom>
          <a:solidFill>
            <a:srgbClr val="F5BE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a_clean_high_quality_vector_cute_cartoon_mascot_i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79" y="105156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20040" y="22860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400" b="1">
                <a:solidFill>
                  <a:srgbClr val="F5BE1C"/>
                </a:solidFill>
              </a:rPr>
              <a:t>목차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68680" y="20116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2800" b="1">
                <a:solidFill>
                  <a:srgbClr val="0B1628"/>
                </a:solidFill>
              </a:rPr>
              <a:t>발표 목차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886968" y="685800"/>
            <a:ext cx="8961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00" b="0">
                <a:solidFill>
                  <a:srgbClr val="5D697B"/>
                </a:solidFill>
              </a:rPr>
              <a:t>최종 발표 흐름</a:t>
            </a:r>
            <a:endParaRPr lang="en-US" sz="87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1152144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365760" y="651967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0" dirty="0">
                <a:solidFill>
                  <a:srgbClr val="8291A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BUZZ · AI 음향 기반 말벌 감지 및 양봉장 관제</a:t>
            </a:r>
            <a:endParaRPr lang="en-US" sz="700" dirty="0"/>
          </a:p>
        </p:txBody>
      </p:sp>
      <p:sp>
        <p:nvSpPr>
          <p:cNvPr id="8" name="Rectangle 7"/>
          <p:cNvSpPr/>
          <p:nvPr/>
        </p:nvSpPr>
        <p:spPr>
          <a:xfrm>
            <a:off x="320040" y="960120"/>
            <a:ext cx="11521440" cy="13716"/>
          </a:xfrm>
          <a:prstGeom prst="rect">
            <a:avLst/>
          </a:prstGeom>
          <a:solidFill>
            <a:srgbClr val="465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85800" y="1417320"/>
            <a:ext cx="640080" cy="384048"/>
          </a:xfrm>
          <a:prstGeom prst="roundRect">
            <a:avLst/>
          </a:prstGeom>
          <a:solidFill>
            <a:srgbClr val="F5BE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A1220"/>
                </a:solidFill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1399032"/>
            <a:ext cx="4937760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B1628"/>
                </a:solidFill>
              </a:rPr>
              <a:t>프로젝트 개요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167128"/>
            <a:ext cx="640080" cy="384048"/>
          </a:xfrm>
          <a:prstGeom prst="roundRect">
            <a:avLst/>
          </a:prstGeom>
          <a:solidFill>
            <a:srgbClr val="F5BE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A1220"/>
                </a:solidFill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148840"/>
            <a:ext cx="4937760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B1628"/>
                </a:solidFill>
              </a:rPr>
              <a:t>팀원 소개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916936"/>
            <a:ext cx="640080" cy="384048"/>
          </a:xfrm>
          <a:prstGeom prst="roundRect">
            <a:avLst/>
          </a:prstGeom>
          <a:solidFill>
            <a:srgbClr val="F5BE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A1220"/>
                </a:solidFill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2898648"/>
            <a:ext cx="4937760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B1628"/>
                </a:solidFill>
              </a:rPr>
              <a:t>시스템 아키텍쳐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666744"/>
            <a:ext cx="640080" cy="384048"/>
          </a:xfrm>
          <a:prstGeom prst="roundRect">
            <a:avLst/>
          </a:prstGeom>
          <a:solidFill>
            <a:srgbClr val="F5BE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A1220"/>
                </a:solidFill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648456"/>
            <a:ext cx="4937760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B1628"/>
                </a:solidFill>
              </a:rPr>
              <a:t>사용 툴/기술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416552"/>
            <a:ext cx="640080" cy="384048"/>
          </a:xfrm>
          <a:prstGeom prst="roundRect">
            <a:avLst/>
          </a:prstGeom>
          <a:solidFill>
            <a:srgbClr val="F5BE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A1220"/>
                </a:solidFill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398264"/>
            <a:ext cx="4937760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B1628"/>
                </a:solidFill>
              </a:rPr>
              <a:t>WBS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5166360"/>
            <a:ext cx="640080" cy="384048"/>
          </a:xfrm>
          <a:prstGeom prst="roundRect">
            <a:avLst/>
          </a:prstGeom>
          <a:solidFill>
            <a:srgbClr val="F5BE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A1220"/>
                </a:solidFill>
              </a:rPr>
              <a:t>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5148072"/>
            <a:ext cx="4937760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B1628"/>
                </a:solidFill>
              </a:rPr>
              <a:t>데이터 전처리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80760" y="1417320"/>
            <a:ext cx="640080" cy="384048"/>
          </a:xfrm>
          <a:prstGeom prst="roundRect">
            <a:avLst/>
          </a:prstGeom>
          <a:solidFill>
            <a:srgbClr val="F5BE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A1220"/>
                </a:solidFill>
              </a:rPr>
              <a:t>07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3720" y="1399032"/>
            <a:ext cx="4937760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B1628"/>
                </a:solidFill>
              </a:rPr>
              <a:t>모델 비교 및 선정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80760" y="2167128"/>
            <a:ext cx="640080" cy="384048"/>
          </a:xfrm>
          <a:prstGeom prst="roundRect">
            <a:avLst/>
          </a:prstGeom>
          <a:solidFill>
            <a:srgbClr val="F5BE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A1220"/>
                </a:solidFill>
              </a:rPr>
              <a:t>08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2148840"/>
            <a:ext cx="4937760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B1628"/>
                </a:solidFill>
              </a:rPr>
              <a:t>페이지 소개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80760" y="2916936"/>
            <a:ext cx="640080" cy="384048"/>
          </a:xfrm>
          <a:prstGeom prst="roundRect">
            <a:avLst/>
          </a:prstGeom>
          <a:solidFill>
            <a:srgbClr val="F5BE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A1220"/>
                </a:solidFill>
              </a:rPr>
              <a:t>09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03720" y="2898648"/>
            <a:ext cx="4937760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B1628"/>
                </a:solidFill>
              </a:rPr>
              <a:t>Trouble Shooting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80760" y="3666744"/>
            <a:ext cx="640080" cy="384048"/>
          </a:xfrm>
          <a:prstGeom prst="roundRect">
            <a:avLst/>
          </a:prstGeom>
          <a:solidFill>
            <a:srgbClr val="F5BE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A1220"/>
                </a:solidFill>
              </a:rPr>
              <a:t>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3648456"/>
            <a:ext cx="4937760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B1628"/>
                </a:solidFill>
              </a:rPr>
              <a:t>추후 개선사항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80760" y="4416552"/>
            <a:ext cx="640080" cy="384048"/>
          </a:xfrm>
          <a:prstGeom prst="roundRect">
            <a:avLst/>
          </a:prstGeom>
          <a:solidFill>
            <a:srgbClr val="F5BE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A1220"/>
                </a:solidFill>
              </a:rPr>
              <a:t>11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03720" y="4398264"/>
            <a:ext cx="4937760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B1628"/>
                </a:solidFill>
              </a:rPr>
              <a:t>음원 출처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080760" y="5166360"/>
            <a:ext cx="640080" cy="384048"/>
          </a:xfrm>
          <a:prstGeom prst="roundRect">
            <a:avLst/>
          </a:prstGeom>
          <a:solidFill>
            <a:srgbClr val="F5BE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A1220"/>
                </a:solidFill>
              </a:rPr>
              <a:t>12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03720" y="5148072"/>
            <a:ext cx="4937760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B1628"/>
                </a:solidFill>
              </a:rPr>
              <a:t>마무리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400" b="1">
                <a:solidFill>
                  <a:srgbClr val="F5BE1C"/>
                </a:solidFill>
              </a:rPr>
              <a:t>01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68680" y="20116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B16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프로젝트 개요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886968" y="685800"/>
            <a:ext cx="8961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0" dirty="0">
                <a:solidFill>
                  <a:srgbClr val="5D697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말벌 피해 배경과 이번 프로젝트의 구현 범위</a:t>
            </a:r>
            <a:endParaRPr lang="en-US" sz="87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1152144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651967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0" dirty="0">
                <a:solidFill>
                  <a:srgbClr val="8291A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BUZZ · AI 음향 기반 말벌 감지 및 양봉장 관제</a:t>
            </a:r>
            <a:endParaRPr lang="en-US" sz="700" dirty="0"/>
          </a:p>
        </p:txBody>
      </p:sp>
      <p:pic>
        <p:nvPicPr>
          <p:cNvPr id="8" name="Image 0" descr="/mnt/data/orig_unzip/ppt/media/image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234440"/>
            <a:ext cx="3886200" cy="21031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617720" y="1234440"/>
            <a:ext cx="68122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3970">
            <a:solidFill>
              <a:srgbClr val="D7DEE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782312" y="1362456"/>
            <a:ext cx="64830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문제 배경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말벌은 벌통 주변에서 꿀벌을 포식하고, 지속적인 출현은 꿀벌의 외부 활동과 채집을 위축시킬 수 있습니다.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617720" y="2743200"/>
            <a:ext cx="6812280" cy="1280160"/>
          </a:xfrm>
          <a:prstGeom prst="roundRect">
            <a:avLst>
              <a:gd name="adj" fmla="val 5714"/>
            </a:avLst>
          </a:prstGeom>
          <a:solidFill>
            <a:srgbClr val="FFFDF5"/>
          </a:solidFill>
          <a:ln w="13970">
            <a:solidFill>
              <a:srgbClr val="D7DE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82312" y="2871216"/>
            <a:ext cx="64830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기획 의도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양봉장 주변 음향에서 말벌 포함 여부를 분석하고, 웹·모바일로 상태·알림·이력을 확인할 수 있는 관제 시스템을 구현합니다.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02920" y="4343400"/>
            <a:ext cx="10927080" cy="1097280"/>
          </a:xfrm>
          <a:prstGeom prst="roundRect">
            <a:avLst>
              <a:gd name="adj" fmla="val 6667"/>
            </a:avLst>
          </a:prstGeom>
          <a:solidFill>
            <a:srgbClr val="EDF7F6"/>
          </a:solidFill>
          <a:ln w="13970">
            <a:solidFill>
              <a:srgbClr val="B7DDD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67512" y="4471416"/>
            <a:ext cx="105978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구현 범위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개발 기간과 장비 한계로 실제 마이크·실물 개폐기 대신, 수집 음원 기반 시뮬레이션과 가상 방어문으로 전체 흐름을 검증합니다.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400" b="1">
                <a:solidFill>
                  <a:srgbClr val="F5BE1C"/>
                </a:solidFill>
              </a:rPr>
              <a:t>02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68680" y="20116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B16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팀원 소개 및 역할 분담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886968" y="685800"/>
            <a:ext cx="8961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0" dirty="0">
                <a:solidFill>
                  <a:srgbClr val="5D697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주 담당 기준의 역할 구성</a:t>
            </a:r>
            <a:endParaRPr lang="en-US" sz="87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1152144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651967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0" dirty="0">
                <a:solidFill>
                  <a:srgbClr val="8291A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BUZZ · AI 음향 기반 말벌 감지 및 양봉장 관제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02920" y="1508760"/>
            <a:ext cx="2514600" cy="41148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5240">
            <a:solidFill>
              <a:srgbClr val="D7DE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04088" y="1737360"/>
            <a:ext cx="502920" cy="320040"/>
          </a:xfrm>
          <a:prstGeom prst="roundRect">
            <a:avLst>
              <a:gd name="adj" fmla="val 22857"/>
            </a:avLst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783080"/>
            <a:ext cx="356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13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04088" y="22402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홍준희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04088" y="269748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B70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 모델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04088" y="324612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전처리 · 데이터 분할·학습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모델 비교 · 추론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383280" y="1508760"/>
            <a:ext cx="2514600" cy="41148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5240">
            <a:solidFill>
              <a:srgbClr val="D7DE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84448" y="1737360"/>
            <a:ext cx="502920" cy="320040"/>
          </a:xfrm>
          <a:prstGeom prst="roundRect">
            <a:avLst>
              <a:gd name="adj" fmla="val 22857"/>
            </a:avLst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0" y="1783080"/>
            <a:ext cx="356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13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584448" y="22402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강성민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584448" y="269748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B70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데이터 / 인프라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584448" y="324612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음원 수집·정리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MySQL 구조 · 서버 통신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63640" y="1508760"/>
            <a:ext cx="2514600" cy="41148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5240">
            <a:solidFill>
              <a:srgbClr val="D7DE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64808" y="1737360"/>
            <a:ext cx="502920" cy="320040"/>
          </a:xfrm>
          <a:prstGeom prst="roundRect">
            <a:avLst>
              <a:gd name="adj" fmla="val 22857"/>
            </a:avLst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37960" y="1783080"/>
            <a:ext cx="356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13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464808" y="22402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김형준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464808" y="269748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B70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웹 / 모바일 UI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64808" y="324612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대시보드 · 모니터링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이력 화면 · 사용자 흐름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144000" y="1508760"/>
            <a:ext cx="2514600" cy="41148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5240">
            <a:solidFill>
              <a:srgbClr val="D7DEE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345168" y="1737360"/>
            <a:ext cx="502920" cy="320040"/>
          </a:xfrm>
          <a:prstGeom prst="roundRect">
            <a:avLst>
              <a:gd name="adj" fmla="val 22857"/>
            </a:avLst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418320" y="1783080"/>
            <a:ext cx="356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13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9345168" y="22402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오금빈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9345168" y="269748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B70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MLOps / 운영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345168" y="324612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Docker 실행환경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협업·배포 · 통합 점검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20040" y="22860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400" b="1">
                <a:solidFill>
                  <a:srgbClr val="F5BE1C"/>
                </a:solidFill>
              </a:rPr>
              <a:t>03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68680" y="20116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2800" b="1">
                <a:solidFill>
                  <a:srgbClr val="0B1628"/>
                </a:solidFill>
              </a:rPr>
              <a:t>시스템 아키텍쳐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886968" y="685800"/>
            <a:ext cx="8961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00">
                <a:solidFill>
                  <a:srgbClr val="5D697B"/>
                </a:solidFill>
              </a:rPr>
              <a:t>수집 음원 기반 시뮬레이션 → AI 판정 → 웹·앱 반영</a:t>
            </a:r>
            <a:endParaRPr lang="en-US" sz="87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1152144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365760" y="651967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0" dirty="0">
                <a:solidFill>
                  <a:srgbClr val="8291A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BUZZ · AI 음향 기반 말벌 감지 및 양봉장 관제</a:t>
            </a:r>
            <a:endParaRPr lang="en-US" sz="700" dirty="0"/>
          </a:p>
        </p:txBody>
      </p:sp>
      <p:pic>
        <p:nvPicPr>
          <p:cNvPr id="8" name="Picture 7" descr="5442a2ba-643b-55f4-81d7-05427eb8b48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25880"/>
            <a:ext cx="11155680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400" b="1">
                <a:solidFill>
                  <a:srgbClr val="F5BE1C"/>
                </a:solidFill>
              </a:rPr>
              <a:t>04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68680" y="20116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B16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사용 툴 / 기술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886968" y="685800"/>
            <a:ext cx="8961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0" dirty="0">
                <a:solidFill>
                  <a:srgbClr val="5D697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기능별 적용 기술</a:t>
            </a:r>
            <a:endParaRPr lang="en-US" sz="87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1152144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651967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0" dirty="0">
                <a:solidFill>
                  <a:srgbClr val="8291A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BUZZ · AI 음향 기반 말벌 감지 및 양봉장 관제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48640" y="1325880"/>
            <a:ext cx="1143000" cy="320040"/>
          </a:xfrm>
          <a:prstGeom prst="roundRect">
            <a:avLst>
              <a:gd name="adj" fmla="val 22857"/>
            </a:avLst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1371600"/>
            <a:ext cx="996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13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음원 처리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48640" y="1828800"/>
            <a:ext cx="31546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3970">
            <a:solidFill>
              <a:srgbClr val="D7DE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1956816"/>
            <a:ext cx="28254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Python · Librosa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NumPy · SoundFile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로딩 · 리샘플링 · 정규화 · 구간 분할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43400" y="1325880"/>
            <a:ext cx="1143000" cy="320040"/>
          </a:xfrm>
          <a:prstGeom prst="roundRect">
            <a:avLst>
              <a:gd name="adj" fmla="val 22857"/>
            </a:avLst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16552" y="1371600"/>
            <a:ext cx="996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13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343400" y="1828800"/>
            <a:ext cx="31546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3970">
            <a:solidFill>
              <a:srgbClr val="D7DE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07992" y="1956816"/>
            <a:ext cx="28254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TensorFlow/Keras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scikit-learn · LightGBM · XGBoost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이진분류 모델 학습 · 비교 · CNN 추론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38160" y="1325880"/>
            <a:ext cx="1143000" cy="320040"/>
          </a:xfrm>
          <a:prstGeom prst="roundRect">
            <a:avLst>
              <a:gd name="adj" fmla="val 22857"/>
            </a:avLst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11312" y="1371600"/>
            <a:ext cx="996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13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API / 저장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8138160" y="1828800"/>
            <a:ext cx="31546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3970">
            <a:solidFill>
              <a:srgbClr val="D7DE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02752" y="1956816"/>
            <a:ext cx="28254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FastAPI · Pydantic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MySQL 8.4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음원 수신 · 추론 · 상태/이력/설정 API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383280"/>
            <a:ext cx="1143000" cy="320040"/>
          </a:xfrm>
          <a:prstGeom prst="roundRect">
            <a:avLst>
              <a:gd name="adj" fmla="val 22857"/>
            </a:avLst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" y="3429000"/>
            <a:ext cx="996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13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화면 / 모바일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48640" y="3886200"/>
            <a:ext cx="31546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3970">
            <a:solidFill>
              <a:srgbClr val="D7DE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3232" y="4014216"/>
            <a:ext cx="28254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React · Vite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Capacitor · Android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웹 관제 · 앱 화면 · 그래프 시각화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343400" y="3383280"/>
            <a:ext cx="1143000" cy="320040"/>
          </a:xfrm>
          <a:prstGeom prst="roundRect">
            <a:avLst>
              <a:gd name="adj" fmla="val 22857"/>
            </a:avLst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16552" y="3429000"/>
            <a:ext cx="996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13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통합 실행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343400" y="3886200"/>
            <a:ext cx="31546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3970">
            <a:solidFill>
              <a:srgbClr val="D7DE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07992" y="4014216"/>
            <a:ext cx="28254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Docker Compose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MySQL · API · 시뮬레이터 · 웹 실행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400" b="1">
                <a:solidFill>
                  <a:srgbClr val="F5BE1C"/>
                </a:solidFill>
              </a:rPr>
              <a:t>05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68680" y="20116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B16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WBS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886968" y="685800"/>
            <a:ext cx="8961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0" dirty="0">
                <a:solidFill>
                  <a:srgbClr val="5D697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전체 작업 상태: 완료</a:t>
            </a:r>
            <a:endParaRPr lang="en-US" sz="87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1152144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651967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0" dirty="0">
                <a:solidFill>
                  <a:srgbClr val="8291A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BUZZ · AI 음향 기반 말벌 감지 및 양봉장 관제</a:t>
            </a:r>
            <a:endParaRPr lang="en-US" sz="7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234440"/>
          <a:ext cx="10972800" cy="466344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92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63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구분</a:t>
                      </a:r>
                      <a:endParaRPr lang="en-US" sz="9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88900" marR="88900" marT="50800" marB="50800" anchor="ctr">
                    <a:lnL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1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작업</a:t>
                      </a:r>
                      <a:endParaRPr lang="en-US" sz="9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88900" marR="88900" marT="50800" marB="50800" anchor="ctr">
                    <a:lnL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1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기간</a:t>
                      </a:r>
                      <a:endParaRPr lang="en-US" sz="9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88900" marR="88900" marT="50800" marB="50800" anchor="ctr">
                    <a:lnL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1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상태</a:t>
                      </a:r>
                      <a:endParaRPr lang="en-US" sz="9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88900" marR="88900" marT="50800" marB="50800" anchor="ctr">
                    <a:lnL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1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0" dirty="0">
                          <a:solidFill>
                            <a:srgbClr val="1E2A3A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기획</a:t>
                      </a:r>
                      <a:endParaRPr lang="en-US" sz="9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88900" marR="88900" marT="50800" marB="50800" anchor="ctr">
                    <a:lnL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0" dirty="0">
                          <a:solidFill>
                            <a:srgbClr val="1E2A3A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프로젝트 기획 및 요구사항 정의</a:t>
                      </a:r>
                      <a:endParaRPr lang="en-US" sz="9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88900" marR="88900" marT="50800" marB="50800" anchor="ctr">
                    <a:lnL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0" dirty="0">
                          <a:solidFill>
                            <a:srgbClr val="1E2A3A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8/31</a:t>
                      </a:r>
                      <a:endParaRPr lang="en-US" sz="9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88900" marR="88900" marT="50800" marB="50800" anchor="ctr">
                    <a:lnL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0" dirty="0">
                          <a:solidFill>
                            <a:srgbClr val="1E2A3A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완료</a:t>
                      </a:r>
                      <a:endParaRPr lang="en-US" sz="9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88900" marR="88900" marT="50800" marB="50800" anchor="ctr">
                    <a:lnL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0" dirty="0">
                          <a:solidFill>
                            <a:srgbClr val="1E2A3A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데이터</a:t>
                      </a:r>
                      <a:endParaRPr lang="en-US" sz="9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88900" marR="88900" marT="50800" marB="50800" anchor="ctr">
                    <a:lnL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0" dirty="0">
                          <a:solidFill>
                            <a:srgbClr val="1E2A3A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오디오 데이터셋 수집 및 라벨링</a:t>
                      </a:r>
                      <a:endParaRPr lang="en-US" sz="9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88900" marR="88900" marT="50800" marB="50800" anchor="ctr">
                    <a:lnL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0" dirty="0">
                          <a:solidFill>
                            <a:srgbClr val="1E2A3A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9/1–9/11</a:t>
                      </a:r>
                      <a:endParaRPr lang="en-US" sz="9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88900" marR="88900" marT="50800" marB="50800" anchor="ctr">
                    <a:lnL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0" dirty="0">
                          <a:solidFill>
                            <a:srgbClr val="1E2A3A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완료</a:t>
                      </a:r>
                      <a:endParaRPr lang="en-US" sz="9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88900" marR="88900" marT="50800" marB="50800" anchor="ctr">
                    <a:lnL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0" dirty="0">
                          <a:solidFill>
                            <a:srgbClr val="1E2A3A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데이터</a:t>
                      </a:r>
                      <a:endParaRPr lang="en-US" sz="9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88900" marR="88900" marT="50800" marB="50800" anchor="ctr">
                    <a:lnL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0" dirty="0">
                          <a:solidFill>
                            <a:srgbClr val="1E2A3A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전처리 파이프라인 구현</a:t>
                      </a:r>
                      <a:endParaRPr lang="en-US" sz="9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88900" marR="88900" marT="50800" marB="50800" anchor="ctr">
                    <a:lnL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0" dirty="0">
                          <a:solidFill>
                            <a:srgbClr val="1E2A3A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9/2–9/4</a:t>
                      </a:r>
                      <a:endParaRPr lang="en-US" sz="9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88900" marR="88900" marT="50800" marB="50800" anchor="ctr">
                    <a:lnL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0" dirty="0">
                          <a:solidFill>
                            <a:srgbClr val="1E2A3A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완료</a:t>
                      </a:r>
                      <a:endParaRPr lang="en-US" sz="9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88900" marR="88900" marT="50800" marB="50800" anchor="ctr">
                    <a:lnL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0" dirty="0">
                          <a:solidFill>
                            <a:srgbClr val="1E2A3A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AI</a:t>
                      </a:r>
                      <a:endParaRPr lang="en-US" sz="9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88900" marR="88900" marT="50800" marB="50800" anchor="ctr">
                    <a:lnL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0" dirty="0">
                          <a:solidFill>
                            <a:srgbClr val="1E2A3A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AI 분류 모델 학습 및 성능 평가</a:t>
                      </a:r>
                      <a:endParaRPr lang="en-US" sz="9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88900" marR="88900" marT="50800" marB="50800" anchor="ctr">
                    <a:lnL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0" dirty="0">
                          <a:solidFill>
                            <a:srgbClr val="1E2A3A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9/3–9/11</a:t>
                      </a:r>
                      <a:endParaRPr lang="en-US" sz="9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88900" marR="88900" marT="50800" marB="50800" anchor="ctr">
                    <a:lnL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0" dirty="0">
                          <a:solidFill>
                            <a:srgbClr val="1E2A3A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완료</a:t>
                      </a:r>
                      <a:endParaRPr lang="en-US" sz="9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88900" marR="88900" marT="50800" marB="50800" anchor="ctr">
                    <a:lnL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0" dirty="0">
                          <a:solidFill>
                            <a:srgbClr val="1E2A3A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Backend</a:t>
                      </a:r>
                      <a:endParaRPr lang="en-US" sz="9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88900" marR="88900" marT="50800" marB="50800" anchor="ctr">
                    <a:lnL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0" dirty="0">
                          <a:solidFill>
                            <a:srgbClr val="1E2A3A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FastAPI 오디오 수신 서버 구현</a:t>
                      </a:r>
                      <a:endParaRPr lang="en-US" sz="9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88900" marR="88900" marT="50800" marB="50800" anchor="ctr">
                    <a:lnL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0" dirty="0">
                          <a:solidFill>
                            <a:srgbClr val="1E2A3A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9/4–9/9</a:t>
                      </a:r>
                      <a:endParaRPr lang="en-US" sz="9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88900" marR="88900" marT="50800" marB="50800" anchor="ctr">
                    <a:lnL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0" dirty="0">
                          <a:solidFill>
                            <a:srgbClr val="1E2A3A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완료</a:t>
                      </a:r>
                      <a:endParaRPr lang="en-US" sz="9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88900" marR="88900" marT="50800" marB="50800" anchor="ctr">
                    <a:lnL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0" dirty="0">
                          <a:solidFill>
                            <a:srgbClr val="1E2A3A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Frontend</a:t>
                      </a:r>
                      <a:endParaRPr lang="en-US" sz="9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88900" marR="88900" marT="50800" marB="50800" anchor="ctr">
                    <a:lnL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0" dirty="0">
                          <a:solidFill>
                            <a:srgbClr val="1E2A3A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Android 앱 위험 알림 · 가상 방어문 UI</a:t>
                      </a:r>
                      <a:endParaRPr lang="en-US" sz="9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88900" marR="88900" marT="50800" marB="50800" anchor="ctr">
                    <a:lnL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0" dirty="0">
                          <a:solidFill>
                            <a:srgbClr val="1E2A3A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9/6–9/10</a:t>
                      </a:r>
                      <a:endParaRPr lang="en-US" sz="9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88900" marR="88900" marT="50800" marB="50800" anchor="ctr">
                    <a:lnL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0" dirty="0">
                          <a:solidFill>
                            <a:srgbClr val="1E2A3A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완료</a:t>
                      </a:r>
                      <a:endParaRPr lang="en-US" sz="9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88900" marR="88900" marT="50800" marB="50800" anchor="ctr">
                    <a:lnL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0" dirty="0">
                          <a:solidFill>
                            <a:srgbClr val="1E2A3A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Frontend</a:t>
                      </a:r>
                      <a:endParaRPr lang="en-US" sz="9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88900" marR="88900" marT="50800" marB="50800" anchor="ctr">
                    <a:lnL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0" dirty="0">
                          <a:solidFill>
                            <a:srgbClr val="1E2A3A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실제 · 사전 수집 영상 표시 기능 연동</a:t>
                      </a:r>
                      <a:endParaRPr lang="en-US" sz="9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88900" marR="88900" marT="50800" marB="50800" anchor="ctr">
                    <a:lnL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0" dirty="0">
                          <a:solidFill>
                            <a:srgbClr val="1E2A3A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9/6–9/10</a:t>
                      </a:r>
                      <a:endParaRPr lang="en-US" sz="9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88900" marR="88900" marT="50800" marB="50800" anchor="ctr">
                    <a:lnL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0" dirty="0">
                          <a:solidFill>
                            <a:srgbClr val="1E2A3A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완료</a:t>
                      </a:r>
                      <a:endParaRPr lang="en-US" sz="9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88900" marR="88900" marT="50800" marB="50800" anchor="ctr">
                    <a:lnL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0" dirty="0">
                          <a:solidFill>
                            <a:srgbClr val="1E2A3A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DevOps</a:t>
                      </a:r>
                      <a:endParaRPr lang="en-US" sz="9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88900" marR="88900" marT="50800" marB="50800" anchor="ctr">
                    <a:lnL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0" dirty="0">
                          <a:solidFill>
                            <a:srgbClr val="1E2A3A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Docker 기반 배포 환경 구축</a:t>
                      </a:r>
                      <a:endParaRPr lang="en-US" sz="9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88900" marR="88900" marT="50800" marB="50800" anchor="ctr">
                    <a:lnL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0" dirty="0">
                          <a:solidFill>
                            <a:srgbClr val="1E2A3A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9/11</a:t>
                      </a:r>
                      <a:endParaRPr lang="en-US" sz="9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88900" marR="88900" marT="50800" marB="50800" anchor="ctr">
                    <a:lnL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0" dirty="0">
                          <a:solidFill>
                            <a:srgbClr val="1E2A3A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완료</a:t>
                      </a:r>
                      <a:endParaRPr lang="en-US" sz="9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88900" marR="88900" marT="50800" marB="50800" anchor="ctr">
                    <a:lnL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0" dirty="0">
                          <a:solidFill>
                            <a:srgbClr val="1E2A3A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통합</a:t>
                      </a:r>
                      <a:endParaRPr lang="en-US" sz="9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88900" marR="88900" marT="50800" marB="50800" anchor="ctr">
                    <a:lnL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0" dirty="0">
                          <a:solidFill>
                            <a:srgbClr val="1E2A3A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통합 테스트 및 발표 자료 제작</a:t>
                      </a:r>
                      <a:endParaRPr lang="en-US" sz="9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88900" marR="88900" marT="50800" marB="50800" anchor="ctr">
                    <a:lnL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0" dirty="0">
                          <a:solidFill>
                            <a:srgbClr val="1E2A3A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9/11–9/14</a:t>
                      </a:r>
                      <a:endParaRPr lang="en-US" sz="9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88900" marR="88900" marT="50800" marB="50800" anchor="ctr">
                    <a:lnL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0" dirty="0">
                          <a:solidFill>
                            <a:srgbClr val="1E2A3A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완료</a:t>
                      </a:r>
                      <a:endParaRPr lang="en-US" sz="9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88900" marR="88900" marT="50800" marB="50800" anchor="ctr">
                    <a:lnL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400" b="1">
                <a:solidFill>
                  <a:srgbClr val="F5BE1C"/>
                </a:solidFill>
              </a:rPr>
              <a:t>06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68680" y="20116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B16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데이터 전처리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886968" y="685800"/>
            <a:ext cx="8961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0" dirty="0">
                <a:solidFill>
                  <a:srgbClr val="5D697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학습과 추론에서 동일한 입력 규격 사용</a:t>
            </a:r>
            <a:endParaRPr lang="en-US" sz="87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1152144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651967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0" dirty="0">
                <a:solidFill>
                  <a:srgbClr val="8291A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BUZZ · AI 음향 기반 말벌 감지 및 양봉장 관제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02920" y="1828800"/>
            <a:ext cx="411480" cy="320040"/>
          </a:xfrm>
          <a:prstGeom prst="roundRect">
            <a:avLst>
              <a:gd name="adj" fmla="val 22857"/>
            </a:avLst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6072" y="1874520"/>
            <a:ext cx="265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13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02920" y="2331720"/>
            <a:ext cx="20574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3970">
            <a:solidFill>
              <a:srgbClr val="D7DE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" y="2459736"/>
            <a:ext cx="17282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b="1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라벨 정의</a:t>
            </a:r>
            <a:endParaRPr lang="en-US" sz="1130" dirty="0"/>
          </a:p>
          <a:p>
            <a:pPr marL="0" indent="0">
              <a:buNone/>
            </a:pPr>
            <a:r>
              <a:rPr lang="en-US" sz="1130" b="1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wasp / non_wasp</a:t>
            </a:r>
            <a:endParaRPr lang="en-US" sz="1130" dirty="0"/>
          </a:p>
          <a:p>
            <a:pPr marL="0" indent="0">
              <a:buNone/>
            </a:pPr>
            <a:r>
              <a:rPr lang="en-US" sz="1130" b="1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혼합 음원은 wasp</a:t>
            </a:r>
            <a:endParaRPr lang="en-US" sz="1130" dirty="0"/>
          </a:p>
        </p:txBody>
      </p:sp>
      <p:sp>
        <p:nvSpPr>
          <p:cNvPr id="12" name="Shape 10"/>
          <p:cNvSpPr/>
          <p:nvPr/>
        </p:nvSpPr>
        <p:spPr>
          <a:xfrm>
            <a:off x="2624328" y="2743200"/>
            <a:ext cx="219456" cy="310896"/>
          </a:xfrm>
          <a:prstGeom prst="chevron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834640" y="1828800"/>
            <a:ext cx="411480" cy="320040"/>
          </a:xfrm>
          <a:prstGeom prst="roundRect">
            <a:avLst>
              <a:gd name="adj" fmla="val 22857"/>
            </a:avLst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07792" y="1874520"/>
            <a:ext cx="265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13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834640" y="2331720"/>
            <a:ext cx="20574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3970">
            <a:solidFill>
              <a:srgbClr val="D7DE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99232" y="2459736"/>
            <a:ext cx="17282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b="1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입력 통일</a:t>
            </a:r>
            <a:endParaRPr lang="en-US" sz="1130" dirty="0"/>
          </a:p>
          <a:p>
            <a:pPr marL="0" indent="0">
              <a:buNone/>
            </a:pPr>
            <a:r>
              <a:rPr lang="en-US" sz="1130" b="1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WAV/MP3 → Mono</a:t>
            </a:r>
            <a:endParaRPr lang="en-US" sz="1130" dirty="0"/>
          </a:p>
          <a:p>
            <a:pPr marL="0" indent="0">
              <a:buNone/>
            </a:pPr>
            <a:r>
              <a:rPr lang="en-US" sz="1130" b="1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24kHz · 2초 구간</a:t>
            </a:r>
            <a:endParaRPr lang="en-US" sz="1130" dirty="0"/>
          </a:p>
        </p:txBody>
      </p:sp>
      <p:sp>
        <p:nvSpPr>
          <p:cNvPr id="17" name="Shape 15"/>
          <p:cNvSpPr/>
          <p:nvPr/>
        </p:nvSpPr>
        <p:spPr>
          <a:xfrm>
            <a:off x="4956048" y="2743200"/>
            <a:ext cx="219456" cy="310896"/>
          </a:xfrm>
          <a:prstGeom prst="chevron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166360" y="1828800"/>
            <a:ext cx="411480" cy="320040"/>
          </a:xfrm>
          <a:prstGeom prst="roundRect">
            <a:avLst>
              <a:gd name="adj" fmla="val 22857"/>
            </a:avLst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39512" y="1874520"/>
            <a:ext cx="265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13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166360" y="2331720"/>
            <a:ext cx="20574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3970">
            <a:solidFill>
              <a:srgbClr val="D7DE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30952" y="2459736"/>
            <a:ext cx="17282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b="1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음량·길이</a:t>
            </a:r>
            <a:endParaRPr lang="en-US" sz="1130" dirty="0"/>
          </a:p>
          <a:p>
            <a:pPr marL="0" indent="0">
              <a:buNone/>
            </a:pPr>
            <a:r>
              <a:rPr lang="en-US" sz="1130" b="1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RMS 정규화</a:t>
            </a:r>
            <a:endParaRPr lang="en-US" sz="1130" dirty="0"/>
          </a:p>
          <a:p>
            <a:pPr marL="0" indent="0">
              <a:buNone/>
            </a:pPr>
            <a:r>
              <a:rPr lang="en-US" sz="1130" b="1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짧은 구간 0 패딩</a:t>
            </a:r>
            <a:endParaRPr lang="en-US" sz="1130" dirty="0"/>
          </a:p>
        </p:txBody>
      </p:sp>
      <p:sp>
        <p:nvSpPr>
          <p:cNvPr id="22" name="Shape 20"/>
          <p:cNvSpPr/>
          <p:nvPr/>
        </p:nvSpPr>
        <p:spPr>
          <a:xfrm>
            <a:off x="7287768" y="2743200"/>
            <a:ext cx="219456" cy="310896"/>
          </a:xfrm>
          <a:prstGeom prst="chevron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98080" y="1828800"/>
            <a:ext cx="411480" cy="320040"/>
          </a:xfrm>
          <a:prstGeom prst="roundRect">
            <a:avLst>
              <a:gd name="adj" fmla="val 22857"/>
            </a:avLst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71232" y="1874520"/>
            <a:ext cx="265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13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7498080" y="2331720"/>
            <a:ext cx="20574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3970">
            <a:solidFill>
              <a:srgbClr val="D7DE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62672" y="2459736"/>
            <a:ext cx="17282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b="1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특징 생성</a:t>
            </a:r>
            <a:endParaRPr lang="en-US" sz="1130" dirty="0"/>
          </a:p>
          <a:p>
            <a:pPr marL="0" indent="0">
              <a:buNone/>
            </a:pPr>
            <a:r>
              <a:rPr lang="en-US" sz="1130" b="1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CNN: Mel-Spectrogram</a:t>
            </a:r>
            <a:endParaRPr lang="en-US" sz="1130" dirty="0"/>
          </a:p>
          <a:p>
            <a:pPr marL="0" indent="0">
              <a:buNone/>
            </a:pPr>
            <a:r>
              <a:rPr lang="en-US" sz="1130" b="1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ML: MFCC 등 수치 특징</a:t>
            </a:r>
            <a:endParaRPr lang="en-US" sz="1130" dirty="0"/>
          </a:p>
        </p:txBody>
      </p:sp>
      <p:sp>
        <p:nvSpPr>
          <p:cNvPr id="27" name="Shape 25"/>
          <p:cNvSpPr/>
          <p:nvPr/>
        </p:nvSpPr>
        <p:spPr>
          <a:xfrm>
            <a:off x="9619488" y="2743200"/>
            <a:ext cx="219456" cy="310896"/>
          </a:xfrm>
          <a:prstGeom prst="chevron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829800" y="1828800"/>
            <a:ext cx="411480" cy="320040"/>
          </a:xfrm>
          <a:prstGeom prst="roundRect">
            <a:avLst>
              <a:gd name="adj" fmla="val 22857"/>
            </a:avLst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902952" y="1874520"/>
            <a:ext cx="265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13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05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9829800" y="2331720"/>
            <a:ext cx="20574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3970">
            <a:solidFill>
              <a:srgbClr val="D7DE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994392" y="2459736"/>
            <a:ext cx="17282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b="1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누수 방지</a:t>
            </a:r>
            <a:endParaRPr lang="en-US" sz="1130" dirty="0"/>
          </a:p>
          <a:p>
            <a:pPr marL="0" indent="0">
              <a:buNone/>
            </a:pPr>
            <a:r>
              <a:rPr lang="en-US" sz="1130" b="1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원본별 그룹 분할</a:t>
            </a:r>
            <a:endParaRPr lang="en-US" sz="1130" dirty="0"/>
          </a:p>
          <a:p>
            <a:pPr marL="0" indent="0">
              <a:buNone/>
            </a:pPr>
            <a:r>
              <a:rPr lang="en-US" sz="1130" b="1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증강은 Train에만 적용</a:t>
            </a:r>
            <a:endParaRPr lang="en-US" sz="1130" dirty="0"/>
          </a:p>
        </p:txBody>
      </p:sp>
      <p:sp>
        <p:nvSpPr>
          <p:cNvPr id="32" name="Shape 30"/>
          <p:cNvSpPr/>
          <p:nvPr/>
        </p:nvSpPr>
        <p:spPr>
          <a:xfrm>
            <a:off x="868680" y="4572000"/>
            <a:ext cx="10424160" cy="685800"/>
          </a:xfrm>
          <a:prstGeom prst="roundRect">
            <a:avLst>
              <a:gd name="adj" fmla="val 10667"/>
            </a:avLst>
          </a:prstGeom>
          <a:solidFill>
            <a:srgbClr val="FFFDF5"/>
          </a:solidFill>
          <a:ln w="13970">
            <a:solidFill>
              <a:srgbClr val="F1DCA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33272" y="4700016"/>
            <a:ext cx="10094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전처리 산출물: 파형 · FFT · Mel-Spectrogram · MFCC는 모델 입력과 화면 설명용 데이터로 활용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20040" y="22860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400" b="1">
                <a:solidFill>
                  <a:srgbClr val="F5BE1C"/>
                </a:solidFill>
              </a:rPr>
              <a:t>07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68680" y="20116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B16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모델 비교 및 선정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886968" y="685800"/>
            <a:ext cx="8961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0" dirty="0">
                <a:solidFill>
                  <a:srgbClr val="5D697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동일 데이터 기준 6개 모델 Validation 비교</a:t>
            </a:r>
            <a:endParaRPr lang="en-US" sz="87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1152144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365760" y="651967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0" dirty="0">
                <a:solidFill>
                  <a:srgbClr val="8291A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BUZZ · AI 음향 기반 말벌 감지 및 양봉장 관제</a:t>
            </a:r>
            <a:endParaRPr lang="en-US" sz="700" dirty="0"/>
          </a:p>
        </p:txBody>
      </p:sp>
      <p:pic>
        <p:nvPicPr>
          <p:cNvPr id="8" name="Image 0" descr="/mnt/data/model_compare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234440"/>
            <a:ext cx="7543800" cy="37033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366760" y="1280160"/>
            <a:ext cx="32461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3970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7"/>
          <p:cNvSpPr/>
          <p:nvPr/>
        </p:nvSpPr>
        <p:spPr>
          <a:xfrm>
            <a:off x="8531352" y="1408176"/>
            <a:ext cx="29169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비교 대상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CNN · MobileNetV2 · CRNN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RandomForest · LightGBM · XGBoost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366760" y="2834640"/>
            <a:ext cx="3246120" cy="1234440"/>
          </a:xfrm>
          <a:prstGeom prst="roundRect">
            <a:avLst>
              <a:gd name="adj" fmla="val 5926"/>
            </a:avLst>
          </a:prstGeom>
          <a:solidFill>
            <a:srgbClr val="FFF3CD"/>
          </a:solidFill>
          <a:ln w="13970">
            <a:solidFill>
              <a:srgbClr val="F2B70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9"/>
          <p:cNvSpPr/>
          <p:nvPr/>
        </p:nvSpPr>
        <p:spPr>
          <a:xfrm>
            <a:off x="8531352" y="2962656"/>
            <a:ext cx="29169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선정 기준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Wasp Recall → Macro F1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미탐 최소화 · 추론 안정성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94360" y="5166360"/>
            <a:ext cx="11018520" cy="685800"/>
          </a:xfrm>
          <a:prstGeom prst="roundRect">
            <a:avLst>
              <a:gd name="adj" fmla="val 10667"/>
            </a:avLst>
          </a:prstGeom>
          <a:solidFill>
            <a:srgbClr val="0B132B"/>
          </a:solidFill>
          <a:ln w="13970">
            <a:solidFill>
              <a:srgbClr val="0B13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1"/>
          <p:cNvSpPr/>
          <p:nvPr/>
        </p:nvSpPr>
        <p:spPr>
          <a:xfrm>
            <a:off x="758952" y="5294376"/>
            <a:ext cx="10689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1600" b="0">
                <a:solidFill>
                  <a:srgbClr val="EBF0F8"/>
                </a:solidFill>
              </a:rPr>
              <a:t>최종 선택: CNN | 6개 모델을 동일한 데이터로 학습한 결과, CNN이 Macro F1 0.9964, Wasp Recall 0.9979로 전반적인 균형과 말벌 탐지 성능이 우수해 서비스 모델로 선정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20040" y="22860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400" b="1">
                <a:solidFill>
                  <a:srgbClr val="F5BE1C"/>
                </a:solidFill>
              </a:rPr>
              <a:t>07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68680" y="20116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B16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선정 모델 테스트 결과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886968" y="685800"/>
            <a:ext cx="8961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00" b="0">
                <a:solidFill>
                  <a:srgbClr val="5D697B"/>
                </a:solidFill>
              </a:rPr>
              <a:t>최종 선정한 CNN 모델의 Test Confusion Matrix</a:t>
            </a:r>
            <a:endParaRPr lang="en-US" sz="87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1152144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365760" y="651967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0" dirty="0">
                <a:solidFill>
                  <a:srgbClr val="8291A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BUZZ · AI 음향 기반 말벌 감지 및 양봉장 관제</a:t>
            </a:r>
            <a:endParaRPr lang="en-US" sz="700" dirty="0"/>
          </a:p>
        </p:txBody>
      </p:sp>
      <p:pic>
        <p:nvPicPr>
          <p:cNvPr id="8" name="Image 0" descr="/mnt/data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143000"/>
            <a:ext cx="4983480" cy="49834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217920" y="1463040"/>
            <a:ext cx="5074920" cy="1325880"/>
          </a:xfrm>
          <a:prstGeom prst="roundRect">
            <a:avLst>
              <a:gd name="adj" fmla="val 5517"/>
            </a:avLst>
          </a:prstGeom>
          <a:solidFill>
            <a:srgbClr val="FFF3CD"/>
          </a:solidFill>
          <a:ln w="13970">
            <a:solidFill>
              <a:srgbClr val="F2B70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7"/>
          <p:cNvSpPr/>
          <p:nvPr/>
        </p:nvSpPr>
        <p:spPr>
          <a:xfrm>
            <a:off x="6382512" y="1591056"/>
            <a:ext cx="47457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Test 결과 요약</a:t>
            </a:r>
            <a:endParaRPr lang="en-US" sz="1900" dirty="0"/>
          </a:p>
          <a:p>
            <a:pPr marL="0" indent="0">
              <a:buNone/>
            </a:pPr>
            <a:r>
              <a:rPr lang="en-US" sz="1900" b="1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Accuracy 99.73%</a:t>
            </a:r>
            <a:endParaRPr lang="en-US" sz="1900" dirty="0"/>
          </a:p>
          <a:p>
            <a:pPr marL="0" indent="0">
              <a:buNone/>
            </a:pPr>
            <a:r>
              <a:rPr lang="en-US" sz="1900" b="1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Wasp Recall 99.59%</a:t>
            </a:r>
            <a:endParaRPr lang="en-US" sz="1900" dirty="0"/>
          </a:p>
        </p:txBody>
      </p:sp>
      <p:sp>
        <p:nvSpPr>
          <p:cNvPr id="11" name="Shape 8"/>
          <p:cNvSpPr/>
          <p:nvPr/>
        </p:nvSpPr>
        <p:spPr>
          <a:xfrm>
            <a:off x="6217920" y="3154680"/>
            <a:ext cx="5074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3970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9"/>
          <p:cNvSpPr/>
          <p:nvPr/>
        </p:nvSpPr>
        <p:spPr>
          <a:xfrm>
            <a:off x="6382512" y="3282696"/>
            <a:ext cx="47457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해석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non_wasp 612개 중 611개 정분류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wasp 492개 중 490개 정분류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False Positive 1건 / False Negative 2건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217920" y="4892040"/>
            <a:ext cx="5074920" cy="713232"/>
          </a:xfrm>
          <a:prstGeom prst="roundRect">
            <a:avLst>
              <a:gd name="adj" fmla="val 10256"/>
            </a:avLst>
          </a:prstGeom>
          <a:solidFill>
            <a:srgbClr val="EDF7F6"/>
          </a:solidFill>
          <a:ln w="13970">
            <a:solidFill>
              <a:srgbClr val="B7DD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1"/>
          <p:cNvSpPr/>
          <p:nvPr/>
        </p:nvSpPr>
        <p:spPr>
          <a:xfrm>
            <a:off x="6382512" y="5020056"/>
            <a:ext cx="474573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1600" b="0">
                <a:solidFill>
                  <a:srgbClr val="EBF0F8"/>
                </a:solidFill>
              </a:rPr>
              <a:t>말벌을 놓치는 False Negative를 최소화하는 것이 중요하므로, 정확도뿐 아니라 Wasp Recall을 핵심 지표로 함께 확인했습니다.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400" b="1">
                <a:solidFill>
                  <a:srgbClr val="F5BE1C"/>
                </a:solidFill>
              </a:rPr>
              <a:t>08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68680" y="20116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2600" b="1">
                <a:solidFill>
                  <a:srgbClr val="0B1628"/>
                </a:solidFill>
              </a:rPr>
              <a:t>페이지 소개 · 웹 통합 대시보드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886968" y="685800"/>
            <a:ext cx="8961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00" b="0">
                <a:solidFill>
                  <a:srgbClr val="67748C"/>
                </a:solidFill>
              </a:rPr>
              <a:t>Web 화면</a:t>
            </a:r>
            <a:endParaRPr lang="en-US" sz="87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1152144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651967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700" b="0">
                <a:solidFill>
                  <a:srgbClr val="8C9AAC"/>
                </a:solidFill>
              </a:rPr>
              <a:t>BUZZ · AI 음향 기반 말벌 감지 및 양봉장 관제</a:t>
            </a:r>
            <a:endParaRPr lang="en-US" sz="700" dirty="0"/>
          </a:p>
        </p:txBody>
      </p:sp>
      <p:sp>
        <p:nvSpPr>
          <p:cNvPr id="8" name="Rounded Rectangle 7"/>
          <p:cNvSpPr/>
          <p:nvPr/>
        </p:nvSpPr>
        <p:spPr>
          <a:xfrm>
            <a:off x="9784080" y="246888"/>
            <a:ext cx="1417320" cy="320040"/>
          </a:xfrm>
          <a:prstGeom prst="roundRect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WEB  01/12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188720"/>
            <a:ext cx="7498080" cy="426110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01-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234440"/>
            <a:ext cx="7406640" cy="4169663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229600" y="1234440"/>
            <a:ext cx="3429000" cy="4169663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458200" y="1508760"/>
            <a:ext cx="822960" cy="320040"/>
          </a:xfrm>
          <a:prstGeom prst="roundRect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WEB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8200" y="1965960"/>
            <a:ext cx="2880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B1628"/>
                </a:solidFill>
              </a:rPr>
              <a:t>웹 통합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2606040"/>
            <a:ext cx="28803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7748C"/>
                </a:solidFill>
              </a:rPr>
              <a:t>여러 사업장의 정상·위험 상태를 요약하고, 선택한 사업장의 최근 AI 판정과 가상 개폐기 상태, 음향 그래프를 한 화면에서 확인합니다.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58200" y="4251960"/>
            <a:ext cx="2880360" cy="822960"/>
          </a:xfrm>
          <a:prstGeom prst="roundRect">
            <a:avLst/>
          </a:prstGeom>
          <a:solidFill>
            <a:srgbClr val="EE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13648" y="4370832"/>
            <a:ext cx="257860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32B46"/>
                </a:solidFill>
              </a:rPr>
              <a:t>대시보드에서는 전체 현황을 먼저 보고, 필요한 사업장을 선택해 최근 분석 결과와 상태를 바로 점검할 수 있습니다.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400" b="1">
                <a:solidFill>
                  <a:srgbClr val="F5BE1C"/>
                </a:solidFill>
              </a:rPr>
              <a:t>08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68680" y="20116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2600" b="1">
                <a:solidFill>
                  <a:srgbClr val="0B1628"/>
                </a:solidFill>
              </a:rPr>
              <a:t>페이지 소개 · 웹 사업장 관리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886968" y="685800"/>
            <a:ext cx="8961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00" b="0">
                <a:solidFill>
                  <a:srgbClr val="67748C"/>
                </a:solidFill>
              </a:rPr>
              <a:t>Web 화면</a:t>
            </a:r>
            <a:endParaRPr lang="en-US" sz="87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1152144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651967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700" b="0">
                <a:solidFill>
                  <a:srgbClr val="8C9AAC"/>
                </a:solidFill>
              </a:rPr>
              <a:t>BUZZ · AI 음향 기반 말벌 감지 및 양봉장 관제</a:t>
            </a:r>
            <a:endParaRPr lang="en-US" sz="700" dirty="0"/>
          </a:p>
        </p:txBody>
      </p:sp>
      <p:sp>
        <p:nvSpPr>
          <p:cNvPr id="8" name="Rounded Rectangle 7"/>
          <p:cNvSpPr/>
          <p:nvPr/>
        </p:nvSpPr>
        <p:spPr>
          <a:xfrm>
            <a:off x="9784080" y="246888"/>
            <a:ext cx="1417320" cy="320040"/>
          </a:xfrm>
          <a:prstGeom prst="roundRect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WEB  02/12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188720"/>
            <a:ext cx="7498080" cy="426110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02-worksi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7406640" cy="4169663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229600" y="1234440"/>
            <a:ext cx="3429000" cy="4169663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458200" y="1508760"/>
            <a:ext cx="822960" cy="320040"/>
          </a:xfrm>
          <a:prstGeom prst="roundRect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WEB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8200" y="1965960"/>
            <a:ext cx="2880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B1628"/>
                </a:solidFill>
              </a:rPr>
              <a:t>웹 사업장 관리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2606040"/>
            <a:ext cx="28803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7748C"/>
                </a:solidFill>
              </a:rPr>
              <a:t>등록된 사업장의 위치, 위험 상태, 가상 개폐기 상태와 마지막 감지 시각을 조회하고, 신규 사업장 등록과 검색을 지원합니다.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58200" y="4251960"/>
            <a:ext cx="2880360" cy="822960"/>
          </a:xfrm>
          <a:prstGeom prst="roundRect">
            <a:avLst/>
          </a:prstGeom>
          <a:solidFill>
            <a:srgbClr val="EE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13648" y="4370832"/>
            <a:ext cx="257860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32B46"/>
                </a:solidFill>
              </a:rPr>
              <a:t>여러 양봉장을 목록으로 관리하면서 상태를 비교하고, 개별 관리 화면으로 빠르게 이동할 수 있습니다.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400" b="1">
                <a:solidFill>
                  <a:srgbClr val="F5BE1C"/>
                </a:solidFill>
              </a:rPr>
              <a:t>08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68680" y="20116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2600" b="1">
                <a:solidFill>
                  <a:srgbClr val="0B1628"/>
                </a:solidFill>
              </a:rPr>
              <a:t>페이지 소개 · 웹 실시간 음향 분석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886968" y="685800"/>
            <a:ext cx="8961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00" b="0">
                <a:solidFill>
                  <a:srgbClr val="67748C"/>
                </a:solidFill>
              </a:rPr>
              <a:t>Web 화면</a:t>
            </a:r>
            <a:endParaRPr lang="en-US" sz="87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1152144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651967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700" b="0">
                <a:solidFill>
                  <a:srgbClr val="8C9AAC"/>
                </a:solidFill>
              </a:rPr>
              <a:t>BUZZ · AI 음향 기반 말벌 감지 및 양봉장 관제</a:t>
            </a:r>
            <a:endParaRPr lang="en-US" sz="700" dirty="0"/>
          </a:p>
        </p:txBody>
      </p:sp>
      <p:sp>
        <p:nvSpPr>
          <p:cNvPr id="8" name="Rounded Rectangle 7"/>
          <p:cNvSpPr/>
          <p:nvPr/>
        </p:nvSpPr>
        <p:spPr>
          <a:xfrm>
            <a:off x="9784080" y="246888"/>
            <a:ext cx="1417320" cy="320040"/>
          </a:xfrm>
          <a:prstGeom prst="roundRect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WEB  03/12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188720"/>
            <a:ext cx="7498080" cy="426110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03-monitoring-l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7406640" cy="4169663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229600" y="1234440"/>
            <a:ext cx="3429000" cy="4169663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458200" y="1508760"/>
            <a:ext cx="822960" cy="320040"/>
          </a:xfrm>
          <a:prstGeom prst="roundRect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WEB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8200" y="1965960"/>
            <a:ext cx="2880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B1628"/>
                </a:solidFill>
              </a:rPr>
              <a:t>웹 실시간 음향 분석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2606040"/>
            <a:ext cx="28803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7748C"/>
                </a:solidFill>
              </a:rPr>
              <a:t>선택한 사업장의 최신 2초 음원을 CNN으로 분석해 말벌·정상 확률과 사용 모델을 표시하고, 파형·Mel-Spectrogram·주파수 분석 결과를 시각화합니다.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58200" y="4251960"/>
            <a:ext cx="2880360" cy="822960"/>
          </a:xfrm>
          <a:prstGeom prst="roundRect">
            <a:avLst/>
          </a:prstGeom>
          <a:solidFill>
            <a:srgbClr val="EE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13648" y="4370832"/>
            <a:ext cx="257860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32B46"/>
                </a:solidFill>
              </a:rPr>
              <a:t>서버가 분석한 수치 데이터를 그래프로 변환해, 판정 결과뿐 아니라 음향 특징까지 함께 확인할 수 있습니다.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400" b="1">
                <a:solidFill>
                  <a:srgbClr val="F5BE1C"/>
                </a:solidFill>
              </a:rPr>
              <a:t>08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68680" y="20116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2600" b="1">
                <a:solidFill>
                  <a:srgbClr val="0B1628"/>
                </a:solidFill>
              </a:rPr>
              <a:t>페이지 소개 · 웹 감지 이력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886968" y="685800"/>
            <a:ext cx="8961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00" b="0">
                <a:solidFill>
                  <a:srgbClr val="67748C"/>
                </a:solidFill>
              </a:rPr>
              <a:t>Web 화면</a:t>
            </a:r>
            <a:endParaRPr lang="en-US" sz="87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1152144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651967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700" b="0">
                <a:solidFill>
                  <a:srgbClr val="8C9AAC"/>
                </a:solidFill>
              </a:rPr>
              <a:t>BUZZ · AI 음향 기반 말벌 감지 및 양봉장 관제</a:t>
            </a:r>
            <a:endParaRPr lang="en-US" sz="700" dirty="0"/>
          </a:p>
        </p:txBody>
      </p:sp>
      <p:sp>
        <p:nvSpPr>
          <p:cNvPr id="8" name="Rounded Rectangle 7"/>
          <p:cNvSpPr/>
          <p:nvPr/>
        </p:nvSpPr>
        <p:spPr>
          <a:xfrm>
            <a:off x="9784080" y="246888"/>
            <a:ext cx="1417320" cy="320040"/>
          </a:xfrm>
          <a:prstGeom prst="roundRect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WEB  04/12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188720"/>
            <a:ext cx="7498080" cy="426110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04-monitoring-his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7406640" cy="4169663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229600" y="1234440"/>
            <a:ext cx="3429000" cy="4169663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458200" y="1508760"/>
            <a:ext cx="822960" cy="320040"/>
          </a:xfrm>
          <a:prstGeom prst="roundRect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WEB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8200" y="1965960"/>
            <a:ext cx="2880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B1628"/>
                </a:solidFill>
              </a:rPr>
              <a:t>웹 감지 이력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2606040"/>
            <a:ext cx="28803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7748C"/>
                </a:solidFill>
              </a:rPr>
              <a:t>사업장과 조회 기간을 기준으로 감지 기록을 필터링하고, 기간별 말벌 감지 추이와 개별 분석 결과를 확인합니다.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58200" y="4251960"/>
            <a:ext cx="2880360" cy="822960"/>
          </a:xfrm>
          <a:prstGeom prst="roundRect">
            <a:avLst/>
          </a:prstGeom>
          <a:solidFill>
            <a:srgbClr val="EE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13648" y="4370832"/>
            <a:ext cx="257860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32B46"/>
                </a:solidFill>
              </a:rPr>
              <a:t>실시간 감지 결과는 이력으로 저장되며, 기간과 사업장별 추이를 확인하고 보고서로 활용할 수 있습니다.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400" b="1">
                <a:solidFill>
                  <a:srgbClr val="F5BE1C"/>
                </a:solidFill>
              </a:rPr>
              <a:t>08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68680" y="20116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2600" b="1">
                <a:solidFill>
                  <a:srgbClr val="0B1628"/>
                </a:solidFill>
              </a:rPr>
              <a:t>페이지 소개 · 웹 시스템 설정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886968" y="685800"/>
            <a:ext cx="8961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00" b="0">
                <a:solidFill>
                  <a:srgbClr val="67748C"/>
                </a:solidFill>
              </a:rPr>
              <a:t>Web 화면</a:t>
            </a:r>
            <a:endParaRPr lang="en-US" sz="87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1152144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651967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700" b="0">
                <a:solidFill>
                  <a:srgbClr val="8C9AAC"/>
                </a:solidFill>
              </a:rPr>
              <a:t>BUZZ · AI 음향 기반 말벌 감지 및 양봉장 관제</a:t>
            </a:r>
            <a:endParaRPr lang="en-US" sz="700" dirty="0"/>
          </a:p>
        </p:txBody>
      </p:sp>
      <p:sp>
        <p:nvSpPr>
          <p:cNvPr id="8" name="Rounded Rectangle 7"/>
          <p:cNvSpPr/>
          <p:nvPr/>
        </p:nvSpPr>
        <p:spPr>
          <a:xfrm>
            <a:off x="9784080" y="246888"/>
            <a:ext cx="1417320" cy="320040"/>
          </a:xfrm>
          <a:prstGeom prst="roundRect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WEB  05/12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188720"/>
            <a:ext cx="7498080" cy="426110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05-sett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7406640" cy="4169663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229600" y="1234440"/>
            <a:ext cx="3429000" cy="4169663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458200" y="1508760"/>
            <a:ext cx="822960" cy="320040"/>
          </a:xfrm>
          <a:prstGeom prst="roundRect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WEB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8200" y="1965960"/>
            <a:ext cx="2880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B1628"/>
                </a:solidFill>
              </a:rPr>
              <a:t>웹 시스템 설정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2606040"/>
            <a:ext cx="28803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7748C"/>
                </a:solidFill>
              </a:rPr>
              <a:t>AI 분석·데이터 수신·앱 연결 상태를 확인하고, 말벌 알림, 진동, 자동 폐쇄와 판정 기준값을 설정합니다.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58200" y="4251960"/>
            <a:ext cx="2880360" cy="822960"/>
          </a:xfrm>
          <a:prstGeom prst="roundRect">
            <a:avLst/>
          </a:prstGeom>
          <a:solidFill>
            <a:srgbClr val="EE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13648" y="4370832"/>
            <a:ext cx="257860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32B46"/>
                </a:solidFill>
              </a:rPr>
              <a:t>화면에서 변경한 판정 기준은 서버 설정에 저장되어 이후 AI 판정과 상태 전환에 반영됩니다.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400" b="1">
                <a:solidFill>
                  <a:srgbClr val="F5BE1C"/>
                </a:solidFill>
              </a:rPr>
              <a:t>08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68680" y="20116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2600" b="1">
                <a:solidFill>
                  <a:srgbClr val="0B1628"/>
                </a:solidFill>
              </a:rPr>
              <a:t>페이지 소개 · 웹 음원 파일 테스트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886968" y="685800"/>
            <a:ext cx="8961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00" b="0">
                <a:solidFill>
                  <a:srgbClr val="67748C"/>
                </a:solidFill>
              </a:rPr>
              <a:t>Web 화면</a:t>
            </a:r>
            <a:endParaRPr lang="en-US" sz="87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1152144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651967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700" b="0">
                <a:solidFill>
                  <a:srgbClr val="8C9AAC"/>
                </a:solidFill>
              </a:rPr>
              <a:t>BUZZ · AI 음향 기반 말벌 감지 및 양봉장 관제</a:t>
            </a:r>
            <a:endParaRPr lang="en-US" sz="700" dirty="0"/>
          </a:p>
        </p:txBody>
      </p:sp>
      <p:sp>
        <p:nvSpPr>
          <p:cNvPr id="8" name="Rounded Rectangle 7"/>
          <p:cNvSpPr/>
          <p:nvPr/>
        </p:nvSpPr>
        <p:spPr>
          <a:xfrm>
            <a:off x="9784080" y="246888"/>
            <a:ext cx="1417320" cy="320040"/>
          </a:xfrm>
          <a:prstGeom prst="roundRect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WEB  06/12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188720"/>
            <a:ext cx="7498080" cy="426110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06-sound-t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7406640" cy="4169663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229600" y="1234440"/>
            <a:ext cx="3429000" cy="4169663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458200" y="1508760"/>
            <a:ext cx="822960" cy="320040"/>
          </a:xfrm>
          <a:prstGeom prst="roundRect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WEB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8200" y="1965960"/>
            <a:ext cx="2880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B1628"/>
                </a:solidFill>
              </a:rPr>
              <a:t>웹 음원 파일 테스트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2606040"/>
            <a:ext cx="28803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7748C"/>
                </a:solidFill>
              </a:rPr>
              <a:t>WAV·MP3 파일 전체를 2초 단위로 분석하여 구간별 판정과 그래프를 확인하고, 기존 테스트 이력과 시스템 로그를 함께 조회합니다.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58200" y="4251960"/>
            <a:ext cx="2880360" cy="822960"/>
          </a:xfrm>
          <a:prstGeom prst="roundRect">
            <a:avLst/>
          </a:prstGeom>
          <a:solidFill>
            <a:srgbClr val="EE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13648" y="4370832"/>
            <a:ext cx="257860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32B46"/>
                </a:solidFill>
              </a:rPr>
              <a:t>파일 테스트는 업로드한 음원을 끝까지 분석하지만, 운영 중인 사업장의 위험 상태나 개폐기에는 영향을 주지 않습니다.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400" b="1">
                <a:solidFill>
                  <a:srgbClr val="F5BE1C"/>
                </a:solidFill>
              </a:rPr>
              <a:t>08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68680" y="20116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2600" b="1">
                <a:solidFill>
                  <a:srgbClr val="0B1628"/>
                </a:solidFill>
              </a:rPr>
              <a:t>페이지 소개 · 앱 대시보드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886968" y="685800"/>
            <a:ext cx="8961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00" b="0">
                <a:solidFill>
                  <a:srgbClr val="67748C"/>
                </a:solidFill>
              </a:rPr>
              <a:t>Android App 화면</a:t>
            </a:r>
            <a:endParaRPr lang="en-US" sz="87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1152144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651967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700" b="0">
                <a:solidFill>
                  <a:srgbClr val="8C9AAC"/>
                </a:solidFill>
              </a:rPr>
              <a:t>BUZZ · AI 음향 기반 말벌 감지 및 양봉장 관제</a:t>
            </a:r>
            <a:endParaRPr lang="en-US" sz="700" dirty="0"/>
          </a:p>
        </p:txBody>
      </p:sp>
      <p:sp>
        <p:nvSpPr>
          <p:cNvPr id="8" name="Rounded Rectangle 7"/>
          <p:cNvSpPr/>
          <p:nvPr/>
        </p:nvSpPr>
        <p:spPr>
          <a:xfrm>
            <a:off x="9784080" y="246888"/>
            <a:ext cx="1417320" cy="320040"/>
          </a:xfrm>
          <a:prstGeom prst="roundRect">
            <a:avLst/>
          </a:prstGeom>
          <a:solidFill>
            <a:srgbClr val="26A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APP  07/12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987552"/>
            <a:ext cx="2880360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01-대시보드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1078992"/>
            <a:ext cx="2570689" cy="493776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4343400" y="1325880"/>
            <a:ext cx="6675120" cy="420624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617720" y="1600200"/>
            <a:ext cx="777240" cy="320040"/>
          </a:xfrm>
          <a:prstGeom prst="roundRect">
            <a:avLst/>
          </a:prstGeom>
          <a:solidFill>
            <a:srgbClr val="26A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APP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057400"/>
            <a:ext cx="5989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B1628"/>
                </a:solidFill>
              </a:rPr>
              <a:t>앱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788920"/>
            <a:ext cx="5897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67748C"/>
                </a:solidFill>
              </a:rPr>
              <a:t>모바일에서 전체 사업장 수와 정상·위험 현황을 요약하고, 사업장별 실시간 모니터링과 가상 개폐기 상태를 확인합니다.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17720" y="4251960"/>
            <a:ext cx="5806440" cy="868680"/>
          </a:xfrm>
          <a:prstGeom prst="roundRect">
            <a:avLst/>
          </a:prstGeom>
          <a:solidFill>
            <a:srgbClr val="EC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800600" y="4389120"/>
            <a:ext cx="5440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32B46"/>
                </a:solidFill>
              </a:rPr>
              <a:t>현장이나 이동 중에도 웹과 동일한 FastAPI 데이터를 사용해 핵심 상태를 빠르게 확인할 수 있습니다.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400" b="1">
                <a:solidFill>
                  <a:srgbClr val="F5BE1C"/>
                </a:solidFill>
              </a:rPr>
              <a:t>08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68680" y="20116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2600" b="1">
                <a:solidFill>
                  <a:srgbClr val="0B1628"/>
                </a:solidFill>
              </a:rPr>
              <a:t>페이지 소개 · 앱 사업장 관리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886968" y="685800"/>
            <a:ext cx="8961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00" b="0">
                <a:solidFill>
                  <a:srgbClr val="67748C"/>
                </a:solidFill>
              </a:rPr>
              <a:t>Android App 화면</a:t>
            </a:r>
            <a:endParaRPr lang="en-US" sz="87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1152144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651967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700" b="0">
                <a:solidFill>
                  <a:srgbClr val="8C9AAC"/>
                </a:solidFill>
              </a:rPr>
              <a:t>BUZZ · AI 음향 기반 말벌 감지 및 양봉장 관제</a:t>
            </a:r>
            <a:endParaRPr lang="en-US" sz="700" dirty="0"/>
          </a:p>
        </p:txBody>
      </p:sp>
      <p:sp>
        <p:nvSpPr>
          <p:cNvPr id="8" name="Rounded Rectangle 7"/>
          <p:cNvSpPr/>
          <p:nvPr/>
        </p:nvSpPr>
        <p:spPr>
          <a:xfrm>
            <a:off x="9784080" y="246888"/>
            <a:ext cx="1417320" cy="320040"/>
          </a:xfrm>
          <a:prstGeom prst="roundRect">
            <a:avLst/>
          </a:prstGeom>
          <a:solidFill>
            <a:srgbClr val="26A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APP  08/12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987552"/>
            <a:ext cx="2880360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02-사업장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1078992"/>
            <a:ext cx="2567381" cy="493776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4343400" y="1325880"/>
            <a:ext cx="6675120" cy="420624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617720" y="1600200"/>
            <a:ext cx="777240" cy="320040"/>
          </a:xfrm>
          <a:prstGeom prst="roundRect">
            <a:avLst/>
          </a:prstGeom>
          <a:solidFill>
            <a:srgbClr val="26A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APP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057400"/>
            <a:ext cx="5989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B1628"/>
                </a:solidFill>
              </a:rPr>
              <a:t>앱 사업장 관리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788920"/>
            <a:ext cx="5897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67748C"/>
                </a:solidFill>
              </a:rPr>
              <a:t>등록 사업장을 상태별로 분류하고 검색하며, 각 사업장의 위치, 위험 여부, 개폐기 상태와 마지막 갱신 시각을 카드 형태로 제공합니다.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17720" y="4251960"/>
            <a:ext cx="5806440" cy="868680"/>
          </a:xfrm>
          <a:prstGeom prst="roundRect">
            <a:avLst/>
          </a:prstGeom>
          <a:solidFill>
            <a:srgbClr val="EC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800600" y="4389120"/>
            <a:ext cx="5440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32B46"/>
                </a:solidFill>
              </a:rPr>
              <a:t>모바일에서는 카드형 UI로 구성해 작은 화면에서도 사업장 상태를 쉽게 비교할 수 있도록 했습니다.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400" b="1">
                <a:solidFill>
                  <a:srgbClr val="F5BE1C"/>
                </a:solidFill>
              </a:rPr>
              <a:t>08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68680" y="20116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2600" b="1">
                <a:solidFill>
                  <a:srgbClr val="0B1628"/>
                </a:solidFill>
              </a:rPr>
              <a:t>페이지 소개 · 앱 감지 이력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886968" y="685800"/>
            <a:ext cx="8961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00" b="0">
                <a:solidFill>
                  <a:srgbClr val="67748C"/>
                </a:solidFill>
              </a:rPr>
              <a:t>Android App 화면</a:t>
            </a:r>
            <a:endParaRPr lang="en-US" sz="87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1152144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651967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700" b="0">
                <a:solidFill>
                  <a:srgbClr val="8C9AAC"/>
                </a:solidFill>
              </a:rPr>
              <a:t>BUZZ · AI 음향 기반 말벌 감지 및 양봉장 관제</a:t>
            </a:r>
            <a:endParaRPr lang="en-US" sz="700" dirty="0"/>
          </a:p>
        </p:txBody>
      </p:sp>
      <p:sp>
        <p:nvSpPr>
          <p:cNvPr id="8" name="Rounded Rectangle 7"/>
          <p:cNvSpPr/>
          <p:nvPr/>
        </p:nvSpPr>
        <p:spPr>
          <a:xfrm>
            <a:off x="9784080" y="246888"/>
            <a:ext cx="1417320" cy="320040"/>
          </a:xfrm>
          <a:prstGeom prst="roundRect">
            <a:avLst/>
          </a:prstGeom>
          <a:solidFill>
            <a:srgbClr val="26A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APP  09/12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987552"/>
            <a:ext cx="2880360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03-모니터링_감지이력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1078992"/>
            <a:ext cx="2566877" cy="493776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4343400" y="1325880"/>
            <a:ext cx="6675120" cy="420624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617720" y="1600200"/>
            <a:ext cx="777240" cy="320040"/>
          </a:xfrm>
          <a:prstGeom prst="roundRect">
            <a:avLst/>
          </a:prstGeom>
          <a:solidFill>
            <a:srgbClr val="26A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APP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057400"/>
            <a:ext cx="5989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B1628"/>
                </a:solidFill>
              </a:rPr>
              <a:t>앱 감지 이력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788920"/>
            <a:ext cx="5897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67748C"/>
                </a:solidFill>
              </a:rPr>
              <a:t>누적 감지 건수, 최근 말벌 감지 시각과 기간별 감지 추이를 제공하고, 개별 위험 이벤트를 시간순으로 확인합니다.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17720" y="4251960"/>
            <a:ext cx="5806440" cy="868680"/>
          </a:xfrm>
          <a:prstGeom prst="roundRect">
            <a:avLst/>
          </a:prstGeom>
          <a:solidFill>
            <a:srgbClr val="EC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800600" y="4389120"/>
            <a:ext cx="5440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32B46"/>
                </a:solidFill>
              </a:rPr>
              <a:t>서버에 저장된 기록을 기반으로, 언제 어느 사업장에서 위험이 발생했는지 모바일에서도 추적할 수 있습니다.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400" b="1">
                <a:solidFill>
                  <a:srgbClr val="F5BE1C"/>
                </a:solidFill>
              </a:rPr>
              <a:t>08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68680" y="20116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2600" b="1">
                <a:solidFill>
                  <a:srgbClr val="0B1628"/>
                </a:solidFill>
              </a:rPr>
              <a:t>페이지 소개 · 앱 실시간 분석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886968" y="685800"/>
            <a:ext cx="8961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00" b="0">
                <a:solidFill>
                  <a:srgbClr val="67748C"/>
                </a:solidFill>
              </a:rPr>
              <a:t>Android App 화면</a:t>
            </a:r>
            <a:endParaRPr lang="en-US" sz="87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1152144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651967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700" b="0">
                <a:solidFill>
                  <a:srgbClr val="8C9AAC"/>
                </a:solidFill>
              </a:rPr>
              <a:t>BUZZ · AI 음향 기반 말벌 감지 및 양봉장 관제</a:t>
            </a:r>
            <a:endParaRPr lang="en-US" sz="700" dirty="0"/>
          </a:p>
        </p:txBody>
      </p:sp>
      <p:sp>
        <p:nvSpPr>
          <p:cNvPr id="8" name="Rounded Rectangle 7"/>
          <p:cNvSpPr/>
          <p:nvPr/>
        </p:nvSpPr>
        <p:spPr>
          <a:xfrm>
            <a:off x="9784080" y="246888"/>
            <a:ext cx="1417320" cy="320040"/>
          </a:xfrm>
          <a:prstGeom prst="roundRect">
            <a:avLst/>
          </a:prstGeom>
          <a:solidFill>
            <a:srgbClr val="26A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APP  10/12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987552"/>
            <a:ext cx="2880360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04-모니터링_실시간분석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1078992"/>
            <a:ext cx="2570167" cy="493776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4343400" y="1325880"/>
            <a:ext cx="6675120" cy="420624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617720" y="1600200"/>
            <a:ext cx="777240" cy="320040"/>
          </a:xfrm>
          <a:prstGeom prst="roundRect">
            <a:avLst/>
          </a:prstGeom>
          <a:solidFill>
            <a:srgbClr val="26A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APP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057400"/>
            <a:ext cx="5989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B1628"/>
                </a:solidFill>
              </a:rPr>
              <a:t>앱 실시간 분석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788920"/>
            <a:ext cx="5897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67748C"/>
                </a:solidFill>
              </a:rPr>
              <a:t>모니터링할 사업장을 선택하면 연결 상태, 최신 AI 판정과 말벌 확률을 표시하며 일정 주기로 최신 결과를 갱신합니다.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17720" y="4251960"/>
            <a:ext cx="5806440" cy="868680"/>
          </a:xfrm>
          <a:prstGeom prst="roundRect">
            <a:avLst/>
          </a:prstGeom>
          <a:solidFill>
            <a:srgbClr val="EC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800600" y="4389120"/>
            <a:ext cx="5440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32B46"/>
                </a:solidFill>
              </a:rPr>
              <a:t>현재 판정과 말벌 확률을 중심으로 구성해 모바일에서도 위험 여부를 빠르게 판단할 수 있습니다.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400" b="1">
                <a:solidFill>
                  <a:srgbClr val="F5BE1C"/>
                </a:solidFill>
              </a:rPr>
              <a:t>08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68680" y="20116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2600" b="1">
                <a:solidFill>
                  <a:srgbClr val="0B1628"/>
                </a:solidFill>
              </a:rPr>
              <a:t>페이지 소개 · 앱 설정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886968" y="685800"/>
            <a:ext cx="8961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00" b="0">
                <a:solidFill>
                  <a:srgbClr val="67748C"/>
                </a:solidFill>
              </a:rPr>
              <a:t>Android App 화면</a:t>
            </a:r>
            <a:endParaRPr lang="en-US" sz="87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1152144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651967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700" b="0">
                <a:solidFill>
                  <a:srgbClr val="8C9AAC"/>
                </a:solidFill>
              </a:rPr>
              <a:t>BUZZ · AI 음향 기반 말벌 감지 및 양봉장 관제</a:t>
            </a:r>
            <a:endParaRPr lang="en-US" sz="700" dirty="0"/>
          </a:p>
        </p:txBody>
      </p:sp>
      <p:sp>
        <p:nvSpPr>
          <p:cNvPr id="8" name="Rounded Rectangle 7"/>
          <p:cNvSpPr/>
          <p:nvPr/>
        </p:nvSpPr>
        <p:spPr>
          <a:xfrm>
            <a:off x="9784080" y="246888"/>
            <a:ext cx="1417320" cy="320040"/>
          </a:xfrm>
          <a:prstGeom prst="roundRect">
            <a:avLst/>
          </a:prstGeom>
          <a:solidFill>
            <a:srgbClr val="26A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APP  11/12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987552"/>
            <a:ext cx="2880360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05-설정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1078992"/>
            <a:ext cx="2566877" cy="493776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4343400" y="1325880"/>
            <a:ext cx="6675120" cy="420624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617720" y="1600200"/>
            <a:ext cx="777240" cy="320040"/>
          </a:xfrm>
          <a:prstGeom prst="roundRect">
            <a:avLst/>
          </a:prstGeom>
          <a:solidFill>
            <a:srgbClr val="26A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APP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057400"/>
            <a:ext cx="5989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B1628"/>
                </a:solidFill>
              </a:rPr>
              <a:t>앱 설정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788920"/>
            <a:ext cx="5897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67748C"/>
                </a:solidFill>
              </a:rPr>
              <a:t>시스템 연결 상태를 확인하고, 말벌 감지 알림·진동·자동 폐쇄 여부와 말벌 판정 기준을 모바일에서 설정합니다.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17720" y="4251960"/>
            <a:ext cx="5806440" cy="868680"/>
          </a:xfrm>
          <a:prstGeom prst="roundRect">
            <a:avLst/>
          </a:prstGeom>
          <a:solidFill>
            <a:srgbClr val="EC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800600" y="4389120"/>
            <a:ext cx="5440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32B46"/>
                </a:solidFill>
              </a:rPr>
              <a:t>알림과 자동 보호 정책을 모바일에서도 변경할 수 있으며, 웹과 같은 서버 설정을 공유합니다.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400" b="1">
                <a:solidFill>
                  <a:srgbClr val="F5BE1C"/>
                </a:solidFill>
              </a:rPr>
              <a:t>08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68680" y="20116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2600" b="1">
                <a:solidFill>
                  <a:srgbClr val="0B1628"/>
                </a:solidFill>
              </a:rPr>
              <a:t>페이지 소개 · 앱 음원 파일 테스트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886968" y="685800"/>
            <a:ext cx="8961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00" b="0">
                <a:solidFill>
                  <a:srgbClr val="67748C"/>
                </a:solidFill>
              </a:rPr>
              <a:t>Android App 화면</a:t>
            </a:r>
            <a:endParaRPr lang="en-US" sz="87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1152144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651967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700" b="0">
                <a:solidFill>
                  <a:srgbClr val="8C9AAC"/>
                </a:solidFill>
              </a:rPr>
              <a:t>BUZZ · AI 음향 기반 말벌 감지 및 양봉장 관제</a:t>
            </a:r>
            <a:endParaRPr lang="en-US" sz="700" dirty="0"/>
          </a:p>
        </p:txBody>
      </p:sp>
      <p:sp>
        <p:nvSpPr>
          <p:cNvPr id="8" name="Rounded Rectangle 7"/>
          <p:cNvSpPr/>
          <p:nvPr/>
        </p:nvSpPr>
        <p:spPr>
          <a:xfrm>
            <a:off x="9784080" y="246888"/>
            <a:ext cx="1417320" cy="320040"/>
          </a:xfrm>
          <a:prstGeom prst="roundRect">
            <a:avLst/>
          </a:prstGeom>
          <a:solidFill>
            <a:srgbClr val="26A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APP  12/12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987552"/>
            <a:ext cx="2880360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06-테스트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1078992"/>
            <a:ext cx="2566877" cy="493776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4343400" y="1325880"/>
            <a:ext cx="6675120" cy="420624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617720" y="1600200"/>
            <a:ext cx="777240" cy="320040"/>
          </a:xfrm>
          <a:prstGeom prst="roundRect">
            <a:avLst/>
          </a:prstGeom>
          <a:solidFill>
            <a:srgbClr val="26A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APP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057400"/>
            <a:ext cx="5989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B1628"/>
                </a:solidFill>
              </a:rPr>
              <a:t>앱 음원 파일 테스트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788920"/>
            <a:ext cx="5897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67748C"/>
                </a:solidFill>
              </a:rPr>
              <a:t>모바일에서 WAV·MP3 파일과 대상 사업장을 선택해 전체 음원을 2초 단위로 분석하고 기존 테스트 결과를 조회합니다.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17720" y="4251960"/>
            <a:ext cx="5806440" cy="868680"/>
          </a:xfrm>
          <a:prstGeom prst="roundRect">
            <a:avLst/>
          </a:prstGeom>
          <a:solidFill>
            <a:srgbClr val="EC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800600" y="4389120"/>
            <a:ext cx="5440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32B46"/>
                </a:solidFill>
              </a:rPr>
              <a:t>모바일 앱에서도 별도의 테스트 음원을 업로드해 CNN 분석 결과를 확인할 수 있도록 구현했습니다.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20040" y="22860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400" b="1">
                <a:solidFill>
                  <a:srgbClr val="F5BE1C"/>
                </a:solidFill>
              </a:rPr>
              <a:t>09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68680" y="20116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2900" b="1">
                <a:solidFill>
                  <a:srgbClr val="0F172A"/>
                </a:solidFill>
                <a:latin typeface="Pretendard"/>
              </a:rPr>
              <a:t>Trouble Shooting</a:t>
            </a:r>
          </a:p>
        </p:txBody>
      </p:sp>
      <p:sp>
        <p:nvSpPr>
          <p:cNvPr id="5" name="Text 3"/>
          <p:cNvSpPr/>
          <p:nvPr/>
        </p:nvSpPr>
        <p:spPr>
          <a:xfrm>
            <a:off x="886968" y="685800"/>
            <a:ext cx="8961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600" b="0">
                <a:solidFill>
                  <a:srgbClr val="69778E"/>
                </a:solidFill>
                <a:latin typeface="Malgun Gothic"/>
              </a:rPr>
              <a:t>실제 발생한 이슈를 AI·화면·이력·배포 관점으로 정리</a:t>
            </a:r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1152144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365760" y="651967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0" dirty="0">
                <a:solidFill>
                  <a:srgbClr val="8291A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BUZZ · AI 음향 기반 말벌 감지 및 양봉장 관제</a:t>
            </a:r>
            <a:endParaRPr lang="en-US" sz="700" dirty="0"/>
          </a:p>
        </p:txBody>
      </p:sp>
      <p:sp>
        <p:nvSpPr>
          <p:cNvPr id="8" name="Rounded Rectangle 7"/>
          <p:cNvSpPr/>
          <p:nvPr/>
        </p:nvSpPr>
        <p:spPr>
          <a:xfrm>
            <a:off x="640080" y="1307592"/>
            <a:ext cx="566928" cy="329184"/>
          </a:xfrm>
          <a:prstGeom prst="round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00000"/>
                </a:solidFill>
                <a:latin typeface="Malgun Gothic"/>
              </a:rP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27632"/>
            <a:ext cx="5074920" cy="1481328"/>
          </a:xfrm>
          <a:prstGeom prst="roundRect">
            <a:avLst/>
          </a:prstGeom>
          <a:solidFill>
            <a:srgbClr val="F9EEC6"/>
          </a:solidFill>
          <a:ln w="15240">
            <a:solidFill>
              <a:srgbClr val="F4B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1773936"/>
            <a:ext cx="4709160" cy="384048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1600" b="1">
                <a:solidFill>
                  <a:srgbClr val="141D37"/>
                </a:solidFill>
                <a:latin typeface="Malgun Gothic"/>
              </a:rPr>
              <a:t>말벌 데이터 품질과 클래스 불균형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194560"/>
            <a:ext cx="47091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0" b="1">
                <a:solidFill>
                  <a:srgbClr val="141D37"/>
                </a:solidFill>
                <a:latin typeface="Malgun Gothic"/>
              </a:rPr>
              <a:t>문제  </a:t>
            </a:r>
            <a:r>
              <a:rPr sz="1130" b="0">
                <a:solidFill>
                  <a:srgbClr val="424E5F"/>
                </a:solidFill>
                <a:latin typeface="Malgun Gothic"/>
              </a:rPr>
              <a:t>wasp 음원이 부족하고 말소리·장비음이 섞인 구간 존재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0" b="1">
                <a:solidFill>
                  <a:srgbClr val="141D37"/>
                </a:solidFill>
                <a:latin typeface="Malgun Gothic"/>
              </a:rPr>
              <a:t>조치  </a:t>
            </a:r>
            <a:r>
              <a:rPr sz="1130" b="0">
                <a:solidFill>
                  <a:srgbClr val="424E5F"/>
                </a:solidFill>
                <a:latin typeface="Malgun Gothic"/>
              </a:rPr>
              <a:t>버징이 명확한 구간만 사용, 부족한 데이터는 증강으로 보완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0" b="1">
                <a:solidFill>
                  <a:srgbClr val="141D37"/>
                </a:solidFill>
                <a:latin typeface="Malgun Gothic"/>
              </a:rPr>
              <a:t>확인  </a:t>
            </a:r>
            <a:r>
              <a:rPr sz="1130" b="0">
                <a:solidFill>
                  <a:srgbClr val="424E5F"/>
                </a:solidFill>
                <a:latin typeface="Malgun Gothic"/>
              </a:rPr>
              <a:t>라벨 품질을 기준으로 재학습 데이터 구성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97880" y="1307592"/>
            <a:ext cx="566928" cy="329184"/>
          </a:xfrm>
          <a:prstGeom prst="round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00000"/>
                </a:solidFill>
                <a:latin typeface="Malgun Gothic"/>
              </a:rPr>
              <a:t>02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97880" y="1627632"/>
            <a:ext cx="5074920" cy="14813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6D0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080760" y="1773936"/>
            <a:ext cx="4709160" cy="384048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1600" b="1">
                <a:solidFill>
                  <a:srgbClr val="141D37"/>
                </a:solidFill>
                <a:latin typeface="Malgun Gothic"/>
              </a:rPr>
              <a:t>앱 중심 구조에서 웹·Android 공통 관제로 확장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2194560"/>
            <a:ext cx="47091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0" b="1">
                <a:solidFill>
                  <a:srgbClr val="141D37"/>
                </a:solidFill>
                <a:latin typeface="Malgun Gothic"/>
              </a:rPr>
              <a:t>문제  </a:t>
            </a:r>
            <a:r>
              <a:rPr sz="1130" b="0">
                <a:solidFill>
                  <a:srgbClr val="424E5F"/>
                </a:solidFill>
                <a:latin typeface="Malgun Gothic"/>
              </a:rPr>
              <a:t>초기 화면 흐름이 모바일 중심이라 웹 대시보드와 기능 차이 발생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0" b="1">
                <a:solidFill>
                  <a:srgbClr val="141D37"/>
                </a:solidFill>
                <a:latin typeface="Malgun Gothic"/>
              </a:rPr>
              <a:t>조치  </a:t>
            </a:r>
            <a:r>
              <a:rPr sz="1130" b="0">
                <a:solidFill>
                  <a:srgbClr val="424E5F"/>
                </a:solidFill>
                <a:latin typeface="Malgun Gothic"/>
              </a:rPr>
              <a:t>Web과 Android가 같은 FastAPI 데이터를 사용하도록 화면·API 흐름 정리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0" b="1">
                <a:solidFill>
                  <a:srgbClr val="141D37"/>
                </a:solidFill>
                <a:latin typeface="Malgun Gothic"/>
              </a:rPr>
              <a:t>확인  </a:t>
            </a:r>
            <a:r>
              <a:rPr sz="1130" b="0">
                <a:solidFill>
                  <a:srgbClr val="424E5F"/>
                </a:solidFill>
                <a:latin typeface="Malgun Gothic"/>
              </a:rPr>
              <a:t>대시보드·분석·이력·설정 화면의 기준 기능 통일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319272"/>
            <a:ext cx="566928" cy="329184"/>
          </a:xfrm>
          <a:prstGeom prst="round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00000"/>
                </a:solidFill>
                <a:latin typeface="Malgun Gothic"/>
              </a:rPr>
              <a:t>03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639312"/>
            <a:ext cx="5074920" cy="14813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6D0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" y="3785616"/>
            <a:ext cx="4709160" cy="384048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1600" b="1">
                <a:solidFill>
                  <a:srgbClr val="141D37"/>
                </a:solidFill>
                <a:latin typeface="Malgun Gothic"/>
              </a:rPr>
              <a:t>감지 이력·테스트 이력·시스템 로그 혼동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206240"/>
            <a:ext cx="47091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0" b="1">
                <a:solidFill>
                  <a:srgbClr val="141D37"/>
                </a:solidFill>
                <a:latin typeface="Malgun Gothic"/>
              </a:rPr>
              <a:t>문제  </a:t>
            </a:r>
            <a:r>
              <a:rPr sz="1130" b="0">
                <a:solidFill>
                  <a:srgbClr val="424E5F"/>
                </a:solidFill>
                <a:latin typeface="Malgun Gothic"/>
              </a:rPr>
              <a:t>실제 감지 결과, 파일 테스트 결과, 시스템 로그가 한 화면에서 섞여 보임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0" b="1">
                <a:solidFill>
                  <a:srgbClr val="141D37"/>
                </a:solidFill>
                <a:latin typeface="Malgun Gothic"/>
              </a:rPr>
              <a:t>조치  </a:t>
            </a:r>
            <a:r>
              <a:rPr sz="1130" b="0">
                <a:solidFill>
                  <a:srgbClr val="424E5F"/>
                </a:solidFill>
                <a:latin typeface="Malgun Gothic"/>
              </a:rPr>
              <a:t>운영 감지 이력 / 파일 테스트 / 시스템 로그를 역할별로 분리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0" b="1">
                <a:solidFill>
                  <a:srgbClr val="141D37"/>
                </a:solidFill>
                <a:latin typeface="Malgun Gothic"/>
              </a:rPr>
              <a:t>확인  </a:t>
            </a:r>
            <a:r>
              <a:rPr sz="1130" b="0">
                <a:solidFill>
                  <a:srgbClr val="424E5F"/>
                </a:solidFill>
                <a:latin typeface="Malgun Gothic"/>
              </a:rPr>
              <a:t>발표와 시연에서 어떤 기록인지 쉽게 설명 가능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97880" y="3319272"/>
            <a:ext cx="566928" cy="329184"/>
          </a:xfrm>
          <a:prstGeom prst="round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00000"/>
                </a:solidFill>
                <a:latin typeface="Malgun Gothic"/>
              </a:rPr>
              <a:t>04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97880" y="3639312"/>
            <a:ext cx="5074920" cy="14813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6D0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080760" y="3785616"/>
            <a:ext cx="4709160" cy="384048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1600" b="1">
                <a:solidFill>
                  <a:srgbClr val="141D37"/>
                </a:solidFill>
                <a:latin typeface="Malgun Gothic"/>
              </a:rPr>
              <a:t>Docker 환경과 로컬 환경 설정 차이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4206240"/>
            <a:ext cx="47091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0" b="1">
                <a:solidFill>
                  <a:srgbClr val="141D37"/>
                </a:solidFill>
                <a:latin typeface="Malgun Gothic"/>
              </a:rPr>
              <a:t>문제  </a:t>
            </a:r>
            <a:r>
              <a:rPr sz="1130" b="0">
                <a:solidFill>
                  <a:srgbClr val="424E5F"/>
                </a:solidFill>
                <a:latin typeface="Malgun Gothic"/>
              </a:rPr>
              <a:t>로컬에서는 되지만 Docker에서는 DB/API 접속이 실패하는 상황 발생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0" b="1">
                <a:solidFill>
                  <a:srgbClr val="141D37"/>
                </a:solidFill>
                <a:latin typeface="Malgun Gothic"/>
              </a:rPr>
              <a:t>조치  </a:t>
            </a:r>
            <a:r>
              <a:rPr sz="1130" b="0">
                <a:solidFill>
                  <a:srgbClr val="424E5F"/>
                </a:solidFill>
                <a:latin typeface="Malgun Gothic"/>
              </a:rPr>
              <a:t>DB_HOST, 포트, API 주소를 실행 위치별로 분리하고 Compose 기준 정리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0" b="1">
                <a:solidFill>
                  <a:srgbClr val="141D37"/>
                </a:solidFill>
                <a:latin typeface="Malgun Gothic"/>
              </a:rPr>
              <a:t>확인  </a:t>
            </a:r>
            <a:r>
              <a:rPr sz="1130" b="0">
                <a:solidFill>
                  <a:srgbClr val="424E5F"/>
                </a:solidFill>
                <a:latin typeface="Malgun Gothic"/>
              </a:rPr>
              <a:t>mysql + ai-server + web 컨테이너 healthy 상태 확인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400" b="1">
                <a:solidFill>
                  <a:srgbClr val="F5BE1C"/>
                </a:solidFill>
              </a:rPr>
              <a:t>10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68680" y="20116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2800" b="1">
                <a:solidFill>
                  <a:srgbClr val="0B1628"/>
                </a:solidFill>
              </a:rPr>
              <a:t>추후 개선사항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886968" y="685800"/>
            <a:ext cx="8961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0" dirty="0">
                <a:solidFill>
                  <a:srgbClr val="5D697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시연 시스템에서 현장 적용 시스템으로 확장</a:t>
            </a:r>
            <a:endParaRPr lang="en-US" sz="87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1152144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651967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0" dirty="0">
                <a:solidFill>
                  <a:srgbClr val="8291A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BUZZ · AI 음향 기반 말벌 감지 및 양봉장 관제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685800" y="1417320"/>
            <a:ext cx="548640" cy="320040"/>
          </a:xfrm>
          <a:prstGeom prst="roundRect">
            <a:avLst>
              <a:gd name="adj" fmla="val 22857"/>
            </a:avLst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8952" y="1463040"/>
            <a:ext cx="402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13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85800" y="1920240"/>
            <a:ext cx="4800600" cy="1143000"/>
          </a:xfrm>
          <a:prstGeom prst="roundRect">
            <a:avLst>
              <a:gd name="adj" fmla="val 6400"/>
            </a:avLst>
          </a:prstGeom>
          <a:solidFill>
            <a:srgbClr val="FFF3CD"/>
          </a:solidFill>
          <a:ln w="13970">
            <a:solidFill>
              <a:srgbClr val="F2B70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" y="2048256"/>
            <a:ext cx="44714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 모델 성능 개선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현장 데이터 추가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오탐·미탐 개선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355080" y="1417320"/>
            <a:ext cx="548640" cy="320040"/>
          </a:xfrm>
          <a:prstGeom prst="roundRect">
            <a:avLst>
              <a:gd name="adj" fmla="val 22857"/>
            </a:avLst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28232" y="1463040"/>
            <a:ext cx="402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13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355080" y="1920240"/>
            <a:ext cx="4800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3970">
            <a:solidFill>
              <a:srgbClr val="D7DE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19672" y="2048256"/>
            <a:ext cx="44714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영상 분석 추가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음향 + 영상 기반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멀티모달 탐지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85800" y="3429000"/>
            <a:ext cx="548640" cy="320040"/>
          </a:xfrm>
          <a:prstGeom prst="roundRect">
            <a:avLst>
              <a:gd name="adj" fmla="val 22857"/>
            </a:avLst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3474720"/>
            <a:ext cx="402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13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85800" y="3931920"/>
            <a:ext cx="4800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3970">
            <a:solidFill>
              <a:srgbClr val="D7DE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0392" y="4059936"/>
            <a:ext cx="44714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실시간 마이크 연동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양봉장 마이크 입력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서버 전송·분석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355080" y="3429000"/>
            <a:ext cx="548640" cy="320040"/>
          </a:xfrm>
          <a:prstGeom prst="roundRect">
            <a:avLst>
              <a:gd name="adj" fmla="val 22857"/>
            </a:avLst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28232" y="3474720"/>
            <a:ext cx="402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13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355080" y="3931920"/>
            <a:ext cx="4800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3970">
            <a:solidFill>
              <a:srgbClr val="D7DE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19672" y="4059936"/>
            <a:ext cx="44714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실제 개폐기 연결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가상 방어문 → IoT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안전 동작 검증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20040" y="22860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400" b="1">
                <a:solidFill>
                  <a:srgbClr val="F5BE1C"/>
                </a:solidFill>
              </a:rPr>
              <a:t>11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68680" y="20116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2900" b="1">
                <a:solidFill>
                  <a:srgbClr val="0F172A"/>
                </a:solidFill>
                <a:latin typeface="Pretendard"/>
              </a:rPr>
              <a:t>음원 출처</a:t>
            </a:r>
          </a:p>
        </p:txBody>
      </p:sp>
      <p:sp>
        <p:nvSpPr>
          <p:cNvPr id="5" name="Text 3"/>
          <p:cNvSpPr/>
          <p:nvPr/>
        </p:nvSpPr>
        <p:spPr>
          <a:xfrm>
            <a:off x="886968" y="685800"/>
            <a:ext cx="8961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600">
                <a:solidFill>
                  <a:srgbClr val="69778E"/>
                </a:solidFill>
                <a:latin typeface="Malgun Gothic"/>
              </a:rPr>
              <a:t>학습·테스트에 실제 사용한 음원 출처만 정리</a:t>
            </a:r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1152144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651967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0" dirty="0">
                <a:solidFill>
                  <a:srgbClr val="8291A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BUZZ · AI 음향 기반 말벌 감지 및 양봉장 관제</a:t>
            </a:r>
            <a:endParaRPr lang="en-US" sz="700" dirty="0"/>
          </a:p>
        </p:txBody>
      </p:sp>
      <p:sp>
        <p:nvSpPr>
          <p:cNvPr id="8" name="Rounded Rectangle 7"/>
          <p:cNvSpPr/>
          <p:nvPr/>
        </p:nvSpPr>
        <p:spPr>
          <a:xfrm>
            <a:off x="640080" y="1143000"/>
            <a:ext cx="1005840" cy="347472"/>
          </a:xfrm>
          <a:prstGeom prst="round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</a:rPr>
              <a:t>WASP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1069848"/>
            <a:ext cx="4160520" cy="50292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1550" b="1">
                <a:solidFill>
                  <a:srgbClr val="141D37"/>
                </a:solidFill>
                <a:latin typeface="Malgun Gothic"/>
              </a:rPr>
              <a:t>YouTube · Freesound · ScienceDirect 말벌 음원 사용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97880" y="1143000"/>
            <a:ext cx="1234440" cy="347472"/>
          </a:xfrm>
          <a:prstGeom prst="roundRect">
            <a:avLst/>
          </a:prstGeom>
          <a:solidFill>
            <a:srgbClr val="346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</a:rPr>
              <a:t>NON_WASP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69480" y="1069848"/>
            <a:ext cx="3474720" cy="50292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1550" b="1">
                <a:solidFill>
                  <a:srgbClr val="141D37"/>
                </a:solidFill>
                <a:latin typeface="Malgun Gothic"/>
              </a:rPr>
              <a:t>AI-Belha 실제 벌통·꿀벌 환경음 활용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40080" y="1737360"/>
          <a:ext cx="9875520" cy="2587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0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9768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algun Gothic"/>
                        </a:rPr>
                        <a:t>출처</a:t>
                      </a:r>
                    </a:p>
                  </a:txBody>
                  <a:tcPr marL="50800" marR="50800" marT="38100" marB="38100" anchor="ctr">
                    <a:solidFill>
                      <a:srgbClr val="3466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algun Gothic"/>
                        </a:rPr>
                        <a:t>주요 클래스</a:t>
                      </a:r>
                    </a:p>
                  </a:txBody>
                  <a:tcPr marL="50800" marR="50800" marT="38100" marB="38100" anchor="ctr">
                    <a:solidFill>
                      <a:srgbClr val="3466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algun Gothic"/>
                        </a:rPr>
                        <a:t>사용 목적</a:t>
                      </a:r>
                    </a:p>
                  </a:txBody>
                  <a:tcPr marL="50800" marR="50800" marT="38100" marB="38100" anchor="ctr">
                    <a:solidFill>
                      <a:srgbClr val="3466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algun Gothic"/>
                        </a:rPr>
                        <a:t>활용 구분</a:t>
                      </a:r>
                    </a:p>
                  </a:txBody>
                  <a:tcPr marL="50800" marR="50800" marT="38100" marB="38100" anchor="ctr">
                    <a:solidFill>
                      <a:srgbClr val="3466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9496">
                <a:tc>
                  <a:txBody>
                    <a:bodyPr/>
                    <a:lstStyle/>
                    <a:p>
                      <a:pPr algn="l"/>
                      <a:r>
                        <a:rPr sz="1280" b="1">
                          <a:solidFill>
                            <a:srgbClr val="141D37"/>
                          </a:solidFill>
                          <a:latin typeface="Malgun Gothic"/>
                        </a:rPr>
                        <a:t>YouTube 공개 영상</a:t>
                      </a:r>
                    </a:p>
                    <a:p>
                      <a:pPr algn="l"/>
                      <a:r>
                        <a:rPr sz="1280" b="1">
                          <a:solidFill>
                            <a:srgbClr val="141D37"/>
                          </a:solidFill>
                          <a:latin typeface="Malgun Gothic"/>
                        </a:rPr>
                        <a:t>(CnFY7u0nK3s 등)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80">
                          <a:solidFill>
                            <a:srgbClr val="141D37"/>
                          </a:solidFill>
                          <a:latin typeface="Malgun Gothic"/>
                        </a:rPr>
                        <a:t>말벌·Yellow Jacket 버징 구간 직접 선별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80">
                          <a:solidFill>
                            <a:srgbClr val="141D37"/>
                          </a:solidFill>
                          <a:latin typeface="Malgun Gothic"/>
                        </a:rPr>
                        <a:t>학습 / 테스트 음원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9496">
                <a:tc>
                  <a:txBody>
                    <a:bodyPr/>
                    <a:lstStyle/>
                    <a:p>
                      <a:pPr algn="l"/>
                      <a:r>
                        <a:rPr sz="1280" b="1">
                          <a:solidFill>
                            <a:srgbClr val="141D37"/>
                          </a:solidFill>
                          <a:latin typeface="Malgun Gothic"/>
                        </a:rPr>
                        <a:t>Freesound</a:t>
                      </a:r>
                    </a:p>
                    <a:p>
                      <a:pPr algn="l"/>
                      <a:r>
                        <a:rPr sz="1280" b="1">
                          <a:solidFill>
                            <a:srgbClr val="141D37"/>
                          </a:solidFill>
                          <a:latin typeface="Malgun Gothic"/>
                        </a:rPr>
                        <a:t>535601 / 585846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80">
                          <a:solidFill>
                            <a:srgbClr val="141D37"/>
                          </a:solidFill>
                          <a:latin typeface="Malgun Gothic"/>
                        </a:rPr>
                        <a:t>말벌·말벌집 버징 음원 보강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80">
                          <a:solidFill>
                            <a:srgbClr val="141D37"/>
                          </a:solidFill>
                          <a:latin typeface="Malgun Gothic"/>
                        </a:rPr>
                        <a:t>학습 음원 보강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9496">
                <a:tc>
                  <a:txBody>
                    <a:bodyPr/>
                    <a:lstStyle/>
                    <a:p>
                      <a:pPr algn="l"/>
                      <a:r>
                        <a:rPr sz="1280" b="1">
                          <a:solidFill>
                            <a:srgbClr val="141D37"/>
                          </a:solidFill>
                          <a:latin typeface="Malgun Gothic"/>
                        </a:rPr>
                        <a:t>ScienceDirect</a:t>
                      </a:r>
                    </a:p>
                    <a:p>
                      <a:pPr algn="l"/>
                      <a:r>
                        <a:rPr sz="1280" b="1">
                          <a:solidFill>
                            <a:srgbClr val="141D37"/>
                          </a:solidFill>
                          <a:latin typeface="Malgun Gothic"/>
                        </a:rPr>
                        <a:t>관련 논문 자료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80">
                          <a:solidFill>
                            <a:srgbClr val="141D37"/>
                          </a:solidFill>
                          <a:latin typeface="Malgun Gothic"/>
                        </a:rPr>
                        <a:t>논문 자료에서 말벌 소리 구간 추출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80">
                          <a:solidFill>
                            <a:srgbClr val="141D37"/>
                          </a:solidFill>
                          <a:latin typeface="Malgun Gothic"/>
                        </a:rPr>
                        <a:t>학습 음원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9496">
                <a:tc>
                  <a:txBody>
                    <a:bodyPr/>
                    <a:lstStyle/>
                    <a:p>
                      <a:pPr algn="l"/>
                      <a:r>
                        <a:rPr sz="1280" b="1">
                          <a:solidFill>
                            <a:srgbClr val="141D37"/>
                          </a:solidFill>
                          <a:latin typeface="Malgun Gothic"/>
                        </a:rPr>
                        <a:t>Hugging Face</a:t>
                      </a:r>
                    </a:p>
                    <a:p>
                      <a:pPr algn="l"/>
                      <a:r>
                        <a:rPr sz="1280" b="1">
                          <a:solidFill>
                            <a:srgbClr val="141D37"/>
                          </a:solidFill>
                          <a:latin typeface="Malgun Gothic"/>
                        </a:rPr>
                        <a:t>NOSInovacao/AI-Belha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80">
                          <a:solidFill>
                            <a:srgbClr val="141D37"/>
                          </a:solidFill>
                          <a:latin typeface="Malgun Gothic"/>
                        </a:rPr>
                        <a:t>실제 벌통·꿀벌 환경음 확보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80">
                          <a:solidFill>
                            <a:srgbClr val="141D37"/>
                          </a:solidFill>
                          <a:latin typeface="Malgun Gothic"/>
                        </a:rPr>
                        <a:t>학습 데이터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3063240" y="2308860"/>
            <a:ext cx="868680" cy="256032"/>
          </a:xfrm>
          <a:prstGeom prst="roundRect">
            <a:avLst/>
          </a:prstGeom>
          <a:solidFill>
            <a:srgbClr val="FFEDCC"/>
          </a:solidFill>
          <a:ln w="12700">
            <a:solidFill>
              <a:srgbClr val="F4B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>
                <a:solidFill>
                  <a:srgbClr val="9C5F00"/>
                </a:solidFill>
                <a:latin typeface="Malgun Gothic"/>
              </a:rPr>
              <a:t>WASP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63240" y="2848356"/>
            <a:ext cx="868680" cy="256032"/>
          </a:xfrm>
          <a:prstGeom prst="roundRect">
            <a:avLst/>
          </a:prstGeom>
          <a:solidFill>
            <a:srgbClr val="FFEDCC"/>
          </a:solidFill>
          <a:ln w="12700">
            <a:solidFill>
              <a:srgbClr val="F4B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>
                <a:solidFill>
                  <a:srgbClr val="9C5F00"/>
                </a:solidFill>
                <a:latin typeface="Malgun Gothic"/>
              </a:rPr>
              <a:t>WASP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63240" y="3387852"/>
            <a:ext cx="868680" cy="256032"/>
          </a:xfrm>
          <a:prstGeom prst="roundRect">
            <a:avLst/>
          </a:prstGeom>
          <a:solidFill>
            <a:srgbClr val="FFEDCC"/>
          </a:solidFill>
          <a:ln w="12700">
            <a:solidFill>
              <a:srgbClr val="F4B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>
                <a:solidFill>
                  <a:srgbClr val="9C5F00"/>
                </a:solidFill>
                <a:latin typeface="Malgun Gothic"/>
              </a:rPr>
              <a:t>WASP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71800" y="3927348"/>
            <a:ext cx="1051560" cy="256032"/>
          </a:xfrm>
          <a:prstGeom prst="roundRect">
            <a:avLst/>
          </a:prstGeom>
          <a:solidFill>
            <a:srgbClr val="EBF1FF"/>
          </a:solidFill>
          <a:ln w="12700">
            <a:solidFill>
              <a:srgbClr val="346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>
                <a:solidFill>
                  <a:srgbClr val="3466EB"/>
                </a:solidFill>
                <a:latin typeface="Malgun Gothic"/>
              </a:rPr>
              <a:t>NON_WASP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709160"/>
            <a:ext cx="4526280" cy="786384"/>
          </a:xfrm>
          <a:prstGeom prst="roundRect">
            <a:avLst/>
          </a:prstGeom>
          <a:solidFill>
            <a:srgbClr val="F9EEC6"/>
          </a:solidFill>
          <a:ln w="15240">
            <a:solidFill>
              <a:srgbClr val="F4B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" y="4892040"/>
            <a:ext cx="4160520" cy="36576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1500" b="1">
                <a:solidFill>
                  <a:srgbClr val="141D37"/>
                </a:solidFill>
                <a:latin typeface="Malgun Gothic"/>
              </a:rPr>
              <a:t>라벨링 기준  |  영상·논문 자료 전체가 아니라 말벌 버징이 명확한 2초 구간만 사용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0" y="4709160"/>
            <a:ext cx="5029200" cy="78638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6D0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669280" y="4892040"/>
            <a:ext cx="4663440" cy="36576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1500" b="1">
                <a:solidFill>
                  <a:srgbClr val="141D37"/>
                </a:solidFill>
                <a:latin typeface="Malgun Gothic"/>
              </a:rPr>
              <a:t>전처리 기준  |  24kHz · mono · 2초 WAV 통일, 원본별 source_id 유지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0"/>
          </a:solidFill>
          <a:ln w="12700">
            <a:noFill/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F36">
              <a:alpha val="53000"/>
            </a:srgbClr>
          </a:solidFill>
          <a:ln w="12700">
            <a:noFill/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22960" y="205740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3800" b="1">
                <a:solidFill>
                  <a:srgbClr val="F5BE1C"/>
                </a:solidFill>
              </a:rPr>
              <a:t>감사합니다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841248" y="2944368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2600" b="0">
                <a:solidFill>
                  <a:srgbClr val="FFFFFF"/>
                </a:solidFill>
              </a:rPr>
              <a:t>이상으로 BUZZ 최종 발표를 마치겠습니다.</a:t>
            </a:r>
            <a:endParaRPr lang="en-US" sz="1900" dirty="0"/>
          </a:p>
          <a:p>
            <a:r>
              <a:rPr sz="2600" b="0">
                <a:solidFill>
                  <a:srgbClr val="FFFFFF"/>
                </a:solidFill>
              </a:rPr>
              <a:t>경청해 주셔서 감사합니다.</a:t>
            </a:r>
          </a:p>
        </p:txBody>
      </p:sp>
      <p:sp>
        <p:nvSpPr>
          <p:cNvPr id="7" name="Text 4"/>
          <p:cNvSpPr/>
          <p:nvPr/>
        </p:nvSpPr>
        <p:spPr>
          <a:xfrm>
            <a:off x="850392" y="52120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800" b="1">
                <a:solidFill>
                  <a:srgbClr val="FFFFFF"/>
                </a:solidFill>
              </a:rPr>
              <a:t>Team BUZZ</a:t>
            </a:r>
            <a:endParaRPr lang="en-US" sz="1200" dirty="0"/>
          </a:p>
        </p:txBody>
      </p:sp>
      <p:sp>
        <p:nvSpPr>
          <p:cNvPr id="8" name="Oval 7"/>
          <p:cNvSpPr/>
          <p:nvPr/>
        </p:nvSpPr>
        <p:spPr>
          <a:xfrm>
            <a:off x="502920" y="594360"/>
            <a:ext cx="502920" cy="502920"/>
          </a:xfrm>
          <a:prstGeom prst="ellipse">
            <a:avLst/>
          </a:prstGeom>
          <a:solidFill>
            <a:srgbClr val="FFC4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149840" y="502920"/>
            <a:ext cx="731520" cy="731520"/>
          </a:xfrm>
          <a:prstGeom prst="ellipse">
            <a:avLst/>
          </a:prstGeom>
          <a:solidFill>
            <a:srgbClr val="F5BE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692640" y="5486400"/>
            <a:ext cx="411480" cy="411480"/>
          </a:xfrm>
          <a:prstGeom prst="ellipse">
            <a:avLst/>
          </a:prstGeom>
          <a:solidFill>
            <a:srgbClr val="FFC4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" y="3611880"/>
            <a:ext cx="1463040" cy="54864"/>
          </a:xfrm>
          <a:prstGeom prst="rect">
            <a:avLst/>
          </a:prstGeom>
          <a:solidFill>
            <a:srgbClr val="F5BE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a_clean_high_quality_vector_cute_cartoon_mascot_i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325880"/>
            <a:ext cx="4389120" cy="438912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411480" y="256032"/>
            <a:ext cx="713232" cy="301752"/>
          </a:xfrm>
          <a:prstGeom prst="roundRect">
            <a:avLst/>
          </a:prstGeom>
          <a:solidFill>
            <a:srgbClr val="F5BE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A1220"/>
                </a:solidFill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1886</Words>
  <Application>Microsoft Office PowerPoint</Application>
  <PresentationFormat>와이드스크린</PresentationFormat>
  <Paragraphs>393</Paragraphs>
  <Slides>26</Slides>
  <Notes>15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26</vt:i4>
      </vt:variant>
    </vt:vector>
  </HeadingPairs>
  <TitlesOfParts>
    <vt:vector size="31" baseType="lpstr">
      <vt:lpstr>Noto Sans CJK KR</vt:lpstr>
      <vt:lpstr>Pretendard</vt:lpstr>
      <vt:lpstr>Malgun Gothic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BUZZ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BUZZ - AI 음향 기반 말벌 감지 및 양봉장 관제</dc:title>
  <dc:subject>BUZZ Final Presentation</dc:subject>
  <dc:creator>OpenAI</dc:creator>
  <cp:lastModifiedBy>콩 금</cp:lastModifiedBy>
  <cp:revision>2</cp:revision>
  <dcterms:created xsi:type="dcterms:W3CDTF">2026-09-15T02:03:39Z</dcterms:created>
  <dcterms:modified xsi:type="dcterms:W3CDTF">2026-09-15T05:37:40Z</dcterms:modified>
</cp:coreProperties>
</file>