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5-1.jpg" ContentType="image/jpg"/>
  <Override PartName="/ppt/media/image-3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 w="12700">
            <a:noFill/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6858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B70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85800" y="18745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음향 기반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말벌 침입 감지 시스템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31520" y="33375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E7A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양봉장 소리 분석 → 위험 알림 → 가상 방어문 상태 확인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546811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 BUZZ  ·  홍준희  강성민  김형준  오금빈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5788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D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2026.09.15</a:t>
            </a:r>
            <a:endParaRPr lang="en-US" sz="900" dirty="0"/>
          </a:p>
        </p:txBody>
      </p:sp>
      <p:sp>
        <p:nvSpPr>
          <p:cNvPr id="10" name="Oval 9"/>
          <p:cNvSpPr/>
          <p:nvPr/>
        </p:nvSpPr>
        <p:spPr>
          <a:xfrm>
            <a:off x="9692640" y="365760"/>
            <a:ext cx="822960" cy="822960"/>
          </a:xfrm>
          <a:prstGeom prst="ellipse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0" y="822960"/>
            <a:ext cx="365760" cy="365760"/>
          </a:xfrm>
          <a:prstGeom prst="ellipse">
            <a:avLst/>
          </a:prstGeom>
          <a:solidFill>
            <a:srgbClr val="FFC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0" y="5669280"/>
            <a:ext cx="502920" cy="502920"/>
          </a:xfrm>
          <a:prstGeom prst="ellipse">
            <a:avLst/>
          </a:prstGeom>
          <a:solidFill>
            <a:srgbClr val="FFC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1280160" cy="54864"/>
          </a:xfrm>
          <a:prstGeom prst="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_clean_high_quality_vector_cute_cartoon_mascot_i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05156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목차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800" b="1">
                <a:solidFill>
                  <a:srgbClr val="0B1628"/>
                </a:solidFill>
              </a:rPr>
              <a:t>발표 목차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5D697B"/>
                </a:solidFill>
              </a:rPr>
              <a:t>최종 발표 흐름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 b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11521440" cy="13716"/>
          </a:xfrm>
          <a:prstGeom prst="rect">
            <a:avLst/>
          </a:prstGeom>
          <a:solidFill>
            <a:srgbClr val="46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399032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프로젝트 개요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67128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48840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팀원 소개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16936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98648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시스템 아키텍쳐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66744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648456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사용 툴/기술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16552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98264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WBS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66360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148072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데이터 전처리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417320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399032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모델 비교 및 선정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2167128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148840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페이지 소개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2916936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898648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Trouble Shooting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3666744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648456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추후 개선사항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4416552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398264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음원 출처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5166360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148072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개요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말벌 피해 배경과 이번 프로젝트의 구현 범위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 b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pic>
        <p:nvPicPr>
          <p:cNvPr id="8" name="Image 0" descr="/mnt/data/orig_unzip/ppt/media/image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886200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17720" y="1234440"/>
            <a:ext cx="6812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82312" y="1362456"/>
            <a:ext cx="6483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배경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말벌은 벌통 주변에서 꿀벌을 포식하고, 지속적인 출현은 꿀벌의 외부 활동과 채집을 위축시킬 수 있습니다.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2743200"/>
            <a:ext cx="6812280" cy="1280160"/>
          </a:xfrm>
          <a:prstGeom prst="roundRect">
            <a:avLst>
              <a:gd name="adj" fmla="val 5714"/>
            </a:avLst>
          </a:prstGeom>
          <a:solidFill>
            <a:srgbClr val="FFFDF5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82312" y="2871216"/>
            <a:ext cx="6483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기획 의도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양봉장 주변 음향에서 말벌 포함 여부를 분석하고, 웹·모바일로 상태·알림·이력을 확인할 수 있는 관제 시스템을 구현합니다.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343400"/>
            <a:ext cx="10927080" cy="1097280"/>
          </a:xfrm>
          <a:prstGeom prst="roundRect">
            <a:avLst>
              <a:gd name="adj" fmla="val 6667"/>
            </a:avLst>
          </a:prstGeom>
          <a:solidFill>
            <a:srgbClr val="EDF7F6"/>
          </a:solidFill>
          <a:ln w="13970">
            <a:solidFill>
              <a:srgbClr val="B7DD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" y="4471416"/>
            <a:ext cx="10597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범위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 기간과 장비 한계로 실제 마이크·실물 개폐기 대신, 수집 음원 기반 시뮬레이션과 가상 방어문으로 전체 흐름을 검증합니다.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팀원 소개 및 역할 분담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 담당 기준의 역할 구성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 b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2514600" cy="41148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737360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356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홍준희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" y="2697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모델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전처리 · 데이터 분할·학습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비교 · 추론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508760"/>
            <a:ext cx="2514600" cy="41148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84448" y="1737360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783080"/>
            <a:ext cx="356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84448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강성민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84448" y="2697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/ 인프라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84448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음원 수집·정리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MySQL 구조 · 서버 통신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2514600" cy="41148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1737360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783080"/>
            <a:ext cx="356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64808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김형준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64808" y="2697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/ 모바일 UI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64808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· 모니터링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 화면 · 사용자 흐름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0" y="1508760"/>
            <a:ext cx="2514600" cy="41148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45168" y="1737360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0" y="1783080"/>
            <a:ext cx="356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345168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오금빈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45168" y="2697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MLOps / 운영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45168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 실행환경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협업·배포 · 통합 점검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800" b="1">
                <a:solidFill>
                  <a:srgbClr val="0B1628"/>
                </a:solidFill>
              </a:rPr>
              <a:t>시스템 아키텍쳐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>
                <a:solidFill>
                  <a:srgbClr val="5D697B"/>
                </a:solidFill>
              </a:rPr>
              <a:t>수집 음원 기반 시뮬레이션 → AI 판정 → 웹·앱 반영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 b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pic>
        <p:nvPicPr>
          <p:cNvPr id="8" name="Picture 7" descr="5442a2ba-643b-55f4-81d7-05427eb8b4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5880"/>
            <a:ext cx="111556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툴 / 기술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기능별 적용 기술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 b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37160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음원 처리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56816"/>
            <a:ext cx="2825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· Librosa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NumPy · SoundFile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로딩 · 리샘플링 · 정규화 · 구간 분할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3258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137160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43400" y="18288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1956816"/>
            <a:ext cx="2825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TensorFlow/Keras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scikit-learn · LightGBM · XGBoost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이진분류 모델 학습 · 비교 · CNN 추론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3258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37160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/ 저장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138160" y="18288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1956816"/>
            <a:ext cx="2825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FastAPI · Pydantic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MySQL 8.4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음원 수신 · 추론 · 상태/이력/설정 API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42900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/ 모바일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014216"/>
            <a:ext cx="2825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React · Vite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Capacitor · Android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관제 · 앱 화면 · 그래프 시각화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43400" y="33832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16552" y="342900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실행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43400" y="38862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4014216"/>
            <a:ext cx="2825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 Compose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MySQL · API · 시뮬레이터 · 웹 실행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WBS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작업 상태: 완료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 b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10972800" cy="4663440"/>
        </p:xfrm>
        <a:graphic>
          <a:graphicData uri="http://schemas.openxmlformats.org/drawingml/2006/table">
            <a:tbl>
              <a:tblPr/>
              <a:tblGrid>
                <a:gridCol w="1280160"/>
                <a:gridCol w="6492240"/>
                <a:gridCol w="1828800"/>
                <a:gridCol w="1097280"/>
              </a:tblGrid>
              <a:tr h="466344"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1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작업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1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기간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1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상태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127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기획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l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프로젝트 기획 및 요구사항 정의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8/31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데이터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l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오디오 데이터셋 수집 및 라벨링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9/1–9/11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데이터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l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전처리 파이프라인 구현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9/2–9/4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l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분류 모델 학습 및 성능 평가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9/3–9/11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Backend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l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FastAPI 오디오 수신 서버 구현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9/4–9/9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Frontend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l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Android 앱 위험 알림 · 가상 방어문 UI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9/6–9/10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Frontend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l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실제 · 사전 수집 영상 표시 기능 연동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9/6–9/10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DevOps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l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Docker 기반 배포 환경 구축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9/11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통합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l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통합 테스트 및 발표 자료 제작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9/11–9/14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 algn="ctr">
                        <a:buNone/>
                      </a:pPr>
                      <a:r>
                        <a:rPr lang="en-US" sz="1100" dirty="0" b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전처리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학습과 추론에서 동일한 입력 규격 사용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 b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41148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874520"/>
            <a:ext cx="265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459736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정의</a:t>
            </a:r>
            <a:endParaRPr lang="en-US" sz="1130" dirty="0"/>
          </a:p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wasp / non_wasp</a:t>
            </a:r>
            <a:endParaRPr lang="en-US" sz="1130" dirty="0"/>
          </a:p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혼합 음원은 wasp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2624328" y="2743200"/>
            <a:ext cx="219456" cy="310896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828800"/>
            <a:ext cx="41148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1874520"/>
            <a:ext cx="265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834640" y="23317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2459736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통일</a:t>
            </a:r>
            <a:endParaRPr lang="en-US" sz="1130" dirty="0"/>
          </a:p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WAV/MP3 → Mono</a:t>
            </a:r>
            <a:endParaRPr lang="en-US" sz="1130" dirty="0"/>
          </a:p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24kHz · 2초 구간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4956048" y="2743200"/>
            <a:ext cx="219456" cy="310896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1828800"/>
            <a:ext cx="41148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9512" y="1874520"/>
            <a:ext cx="265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66360" y="23317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0952" y="2459736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음량·길이</a:t>
            </a:r>
            <a:endParaRPr lang="en-US" sz="1130" dirty="0"/>
          </a:p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RMS 정규화</a:t>
            </a:r>
            <a:endParaRPr lang="en-US" sz="1130" dirty="0"/>
          </a:p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짧은 구간 0 패딩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7287768" y="2743200"/>
            <a:ext cx="219456" cy="310896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1828800"/>
            <a:ext cx="41148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1232" y="1874520"/>
            <a:ext cx="265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98080" y="23317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2459736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특징 생성</a:t>
            </a:r>
            <a:endParaRPr lang="en-US" sz="1130" dirty="0"/>
          </a:p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CNN: Mel-Spectrogram</a:t>
            </a:r>
            <a:endParaRPr lang="en-US" sz="1130" dirty="0"/>
          </a:p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ML: MFCC 등 수치 특징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9619488" y="2743200"/>
            <a:ext cx="219456" cy="310896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29800" y="1828800"/>
            <a:ext cx="41148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02952" y="1874520"/>
            <a:ext cx="265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829800" y="23317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94392" y="2459736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누수 방지</a:t>
            </a:r>
            <a:endParaRPr lang="en-US" sz="1130" dirty="0"/>
          </a:p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원본별 그룹 분할</a:t>
            </a:r>
            <a:endParaRPr lang="en-US" sz="1130" dirty="0"/>
          </a:p>
          <a:p>
            <a:pPr indent="0" marL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증강은 Train에만 적용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868680" y="4572000"/>
            <a:ext cx="10424160" cy="685800"/>
          </a:xfrm>
          <a:prstGeom prst="roundRect">
            <a:avLst>
              <a:gd name="adj" fmla="val 10667"/>
            </a:avLst>
          </a:prstGeom>
          <a:solidFill>
            <a:srgbClr val="FFFDF5"/>
          </a:solidFill>
          <a:ln w="13970">
            <a:solidFill>
              <a:srgbClr val="F1DC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" y="4700016"/>
            <a:ext cx="10094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전처리 산출물: 파형 · FFT · Mel-Spectrogram · MFCC는 모델 입력과 화면 설명용 데이터로 활용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비교 및 선정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데이터 기준 6개 모델 Validation 비교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 b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pic>
        <p:nvPicPr>
          <p:cNvPr id="8" name="Image 0" descr="/mnt/data/model_compare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7543800" cy="3703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2801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531352" y="1408176"/>
            <a:ext cx="2916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 대상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CNN · MobileNetV2 · CRNN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RandomForest · LightGBM · XGBoost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366760" y="28346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3CD"/>
          </a:solidFill>
          <a:ln w="13970">
            <a:solidFill>
              <a:srgbClr val="F2B705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531352" y="2962656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선정 기준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Wasp Recall → Macro F1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미탐 최소화 · 추론 안정성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5166360"/>
            <a:ext cx="11018520" cy="685800"/>
          </a:xfrm>
          <a:prstGeom prst="roundRect">
            <a:avLst>
              <a:gd name="adj" fmla="val 10667"/>
            </a:avLst>
          </a:prstGeom>
          <a:solidFill>
            <a:srgbClr val="0B132B"/>
          </a:solidFill>
          <a:ln w="13970">
            <a:solidFill>
              <a:srgbClr val="0B132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58952" y="5294376"/>
            <a:ext cx="1068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600" b="0">
                <a:solidFill>
                  <a:srgbClr val="EBF0F8"/>
                </a:solidFill>
              </a:rPr>
              <a:t>최종 선택: CNN | 6개 모델을 동일한 데이터로 학습한 결과, CNN이 Macro F1 0.9964, Wasp Recall 0.9979로 전반적인 균형과 말벌 탐지 성능이 우수해 서비스 모델로 선정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선정 모델 테스트 결과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5D697B"/>
                </a:solidFill>
              </a:rPr>
              <a:t>최종 선정한 CNN 모델의 Test Confusion Matrix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 b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pic>
        <p:nvPicPr>
          <p:cNvPr id="8" name="Image 0" descr="/mnt/dat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4983480" cy="4983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46304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3CD"/>
          </a:solidFill>
          <a:ln w="13970">
            <a:solidFill>
              <a:srgbClr val="F2B705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382512" y="1591056"/>
            <a:ext cx="4745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결과 요약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Accuracy 99.73%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Wasp Recall 99.59%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217920" y="315468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3282696"/>
            <a:ext cx="4745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non_wasp 612개 중 611개 정분류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wasp 492개 중 490개 정분류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False Positive 1건 / False Negative 2건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489204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DF7F6"/>
          </a:solidFill>
          <a:ln w="13970">
            <a:solidFill>
              <a:srgbClr val="B7DDD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5020056"/>
            <a:ext cx="4745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600" b="0">
                <a:solidFill>
                  <a:srgbClr val="EBF0F8"/>
                </a:solidFill>
              </a:rPr>
              <a:t>말벌을 놓치는 False Negative를 최소화하는 것이 중요하므로, 정확도뿐 아니라 Wasp Recall을 핵심 지표로 함께 확인했습니다.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0B1628"/>
                </a:solidFill>
              </a:rPr>
              <a:t>페이지 소개 · 웹 통합 대시보드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67748C"/>
                </a:solidFill>
              </a:rPr>
              <a:t>Web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  01/12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80" cy="4261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7406640" cy="4169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234440"/>
            <a:ext cx="3429000" cy="4169663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58200" y="1508760"/>
            <a:ext cx="82296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B1628"/>
                </a:solidFill>
              </a:rPr>
              <a:t>웹 통합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2880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C"/>
                </a:solidFill>
              </a:rPr>
              <a:t>여러 사업장의 정상·위험 상태를 요약하고, 선택한 사업장의 최근 AI 판정과 가상 개폐기 상태, 음향 그래프를 한 화면에서 확인합니다.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80360" cy="822960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4370832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32B46"/>
                </a:solidFill>
              </a:rPr>
              <a:t>대시보드에서는 전체 현황을 먼저 보고, 필요한 사업장을 선택해 최근 분석 결과와 상태를 바로 점검할 수 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Trouble Shooting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점검 후 실제 이슈 중심으로 정리 예정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 b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874520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3063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459736"/>
            <a:ext cx="27340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발생 현상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예) 그래프 잔여 구간, 정상 복귀 표시, 자동 폐쇄 상태 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82880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874520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26280" y="2331720"/>
            <a:ext cx="3063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2459736"/>
            <a:ext cx="27340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코드/데이터/환경 확인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예) 그래프 잔여 구간, 정상 복귀 표시, 자동 폐쇄 상태 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874520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조치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21040" y="2331720"/>
            <a:ext cx="3063240" cy="2057400"/>
          </a:xfrm>
          <a:prstGeom prst="roundRect">
            <a:avLst>
              <a:gd name="adj" fmla="val 3556"/>
            </a:avLst>
          </a:prstGeom>
          <a:solidFill>
            <a:srgbClr val="EDF7F6"/>
          </a:solidFill>
          <a:ln w="13970">
            <a:solidFill>
              <a:srgbClr val="B7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5632" y="2459736"/>
            <a:ext cx="27340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 내용과 검증 결과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예) 그래프 잔여 구간, 정상 복귀 표시, 자동 폐쇄 상태 등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97280" y="5074920"/>
            <a:ext cx="10012680" cy="685800"/>
          </a:xfrm>
          <a:prstGeom prst="roundRect">
            <a:avLst>
              <a:gd name="adj" fmla="val 10667"/>
            </a:avLst>
          </a:prstGeom>
          <a:solidFill>
            <a:srgbClr val="FFFDF5"/>
          </a:solidFill>
          <a:ln w="13970">
            <a:solidFill>
              <a:srgbClr val="F1DC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5202936"/>
            <a:ext cx="9683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발표용 Trouble Shooting은 “실제로 겪은 문제 → 원인 → 해결 → 확인” 흐름으로 2~3개만 선별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800" b="1">
                <a:solidFill>
                  <a:srgbClr val="0B1628"/>
                </a:solidFill>
              </a:rPr>
              <a:t>추후 개선사항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 시스템에서 현장 적용 시스템으로 확장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 b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46304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5800" y="192024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3CD"/>
          </a:solidFill>
          <a:ln w="13970">
            <a:solidFill>
              <a:srgbClr val="F2B7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048256"/>
            <a:ext cx="4471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모델 성능 개선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데이터 추가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오탐·미탐 개선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46304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55080" y="192024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048256"/>
            <a:ext cx="4471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 분석 추가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음향 + 영상 기반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멀티모달 탐지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47472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39319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4059936"/>
            <a:ext cx="4471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실시간 마이크 연동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양봉장 마이크 입력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 전송·분석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342900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47472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55080" y="39319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4059936"/>
            <a:ext cx="4471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개폐기 연결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가상 방어문 → IoT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 동작 검증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음원 출처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및 테스트 음원 출처 정리 예정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 b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10515600" cy="27432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  <a:gridCol w="2743200"/>
                <a:gridCol w="22860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출처 / 데이터셋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사용 목적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비고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Wasp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추후 URL 추가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wasp 학습·검증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라이선스 확인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Bee / non_wasp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추후 URL 추가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non_wasp 학습·검증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환경음 포함 여부 점검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기타 환경음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추후 URL 추가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오탐 감소용 비교 데이터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출처·가공 방식 기록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97280" y="4892040"/>
            <a:ext cx="9966960" cy="7315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 w="13970">
            <a:solidFill>
              <a:srgbClr val="F1DC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5020056"/>
            <a:ext cx="9637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발표 전 추가할 내용: Dataset 명 · 원본 링크 · 사용 범위 · 자체 가공 여부 · 라이선스/출처 표기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 w="12700">
            <a:noFill/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>
              <a:alpha val="53000"/>
            </a:srgbClr>
          </a:solidFill>
          <a:ln w="12700">
            <a:noFill/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574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800" b="1">
                <a:solidFill>
                  <a:srgbClr val="F5BE1C"/>
                </a:solidFill>
              </a:rPr>
              <a:t>감사합니다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41248" y="294436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0">
                <a:solidFill>
                  <a:srgbClr val="FFFFFF"/>
                </a:solidFill>
              </a:rPr>
              <a:t>이상으로 BUZZ 최종 발표를 마치겠습니다.</a:t>
            </a:r>
            <a:endParaRPr lang="en-US" sz="1900" dirty="0"/>
          </a:p>
          <a:p>
            <a:r>
              <a:rPr sz="2600" b="0">
                <a:solidFill>
                  <a:srgbClr val="FFFFFF"/>
                </a:solidFill>
              </a:rPr>
              <a:t>경청해 주셔서 감사합니다.</a:t>
            </a:r>
          </a:p>
        </p:txBody>
      </p:sp>
      <p:sp>
        <p:nvSpPr>
          <p:cNvPr id="7" name="Text 4"/>
          <p:cNvSpPr/>
          <p:nvPr/>
        </p:nvSpPr>
        <p:spPr>
          <a:xfrm>
            <a:off x="850392" y="5212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1">
                <a:solidFill>
                  <a:srgbClr val="FFFFFF"/>
                </a:solidFill>
              </a:rPr>
              <a:t>Team BUZZ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02920" y="594360"/>
            <a:ext cx="502920" cy="502920"/>
          </a:xfrm>
          <a:prstGeom prst="ellipse">
            <a:avLst/>
          </a:prstGeom>
          <a:solidFill>
            <a:srgbClr val="FFC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0" y="502920"/>
            <a:ext cx="731520" cy="731520"/>
          </a:xfrm>
          <a:prstGeom prst="ellipse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0" y="5486400"/>
            <a:ext cx="411480" cy="411480"/>
          </a:xfrm>
          <a:prstGeom prst="ellipse">
            <a:avLst/>
          </a:prstGeom>
          <a:solidFill>
            <a:srgbClr val="FFC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1463040" cy="54864"/>
          </a:xfrm>
          <a:prstGeom prst="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_clean_high_quality_vector_cute_cartoon_mascot_i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325880"/>
            <a:ext cx="4389120" cy="43891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1480" y="256032"/>
            <a:ext cx="713232" cy="301752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122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0B1628"/>
                </a:solidFill>
              </a:rPr>
              <a:t>페이지 소개 · 웹 사업장 관리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67748C"/>
                </a:solidFill>
              </a:rPr>
              <a:t>Web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  02/12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80" cy="4261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work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169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234440"/>
            <a:ext cx="3429000" cy="4169663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58200" y="1508760"/>
            <a:ext cx="82296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B1628"/>
                </a:solidFill>
              </a:rPr>
              <a:t>웹 사업장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2880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C"/>
                </a:solidFill>
              </a:rPr>
              <a:t>등록된 사업장의 위치, 위험 상태, 가상 개폐기 상태와 마지막 감지 시각을 조회하고, 신규 사업장 등록과 검색을 지원합니다.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80360" cy="822960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4370832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32B46"/>
                </a:solidFill>
              </a:rPr>
              <a:t>여러 양봉장을 목록으로 관리하면서 상태를 비교하고, 개별 관리 화면으로 빠르게 이동할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0B1628"/>
                </a:solidFill>
              </a:rPr>
              <a:t>페이지 소개 · 웹 실시간 음향 분석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67748C"/>
                </a:solidFill>
              </a:rPr>
              <a:t>Web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  03/12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80" cy="4261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monitoring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169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234440"/>
            <a:ext cx="3429000" cy="4169663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58200" y="1508760"/>
            <a:ext cx="82296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B1628"/>
                </a:solidFill>
              </a:rPr>
              <a:t>웹 실시간 음향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2880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C"/>
                </a:solidFill>
              </a:rPr>
              <a:t>선택한 사업장의 최신 2초 음원을 CNN으로 분석해 말벌·정상 확률과 사용 모델을 표시하고, 파형·Mel-Spectrogram·주파수 분석 결과를 시각화합니다.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80360" cy="822960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4370832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32B46"/>
                </a:solidFill>
              </a:rPr>
              <a:t>서버가 분석한 수치 데이터를 그래프로 변환해, 판정 결과뿐 아니라 음향 특징까지 함께 확인할 수 있습니다.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0B1628"/>
                </a:solidFill>
              </a:rPr>
              <a:t>페이지 소개 · 웹 감지 이력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67748C"/>
                </a:solidFill>
              </a:rPr>
              <a:t>Web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  04/12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80" cy="4261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monitoring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169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234440"/>
            <a:ext cx="3429000" cy="4169663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58200" y="1508760"/>
            <a:ext cx="82296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B1628"/>
                </a:solidFill>
              </a:rPr>
              <a:t>웹 감지 이력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2880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C"/>
                </a:solidFill>
              </a:rPr>
              <a:t>사업장과 조회 기간을 기준으로 감지 기록을 필터링하고, 기간별 말벌 감지 추이와 개별 분석 결과를 확인합니다.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80360" cy="822960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4370832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32B46"/>
                </a:solidFill>
              </a:rPr>
              <a:t>실시간 감지 결과는 이력으로 저장되며, 기간과 사업장별 추이를 확인하고 보고서로 활용할 수 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0B1628"/>
                </a:solidFill>
              </a:rPr>
              <a:t>페이지 소개 · 웹 시스템 설정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67748C"/>
                </a:solidFill>
              </a:rPr>
              <a:t>Web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  05/12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80" cy="4261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169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234440"/>
            <a:ext cx="3429000" cy="4169663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58200" y="1508760"/>
            <a:ext cx="82296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B1628"/>
                </a:solidFill>
              </a:rPr>
              <a:t>웹 시스템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2880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C"/>
                </a:solidFill>
              </a:rPr>
              <a:t>AI 분석·데이터 수신·앱 연결 상태를 확인하고, 말벌 알림, 진동, 자동 폐쇄와 판정 기준값을 설정합니다.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80360" cy="822960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4370832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32B46"/>
                </a:solidFill>
              </a:rPr>
              <a:t>화면에서 변경한 판정 기준은 서버 설정에 저장되어 이후 AI 판정과 상태 전환에 반영됩니다.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0B1628"/>
                </a:solidFill>
              </a:rPr>
              <a:t>페이지 소개 · 웹 음원 파일 테스트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67748C"/>
                </a:solidFill>
              </a:rPr>
              <a:t>Web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  06/12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80" cy="4261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-sound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169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234440"/>
            <a:ext cx="3429000" cy="4169663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58200" y="1508760"/>
            <a:ext cx="82296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B1628"/>
                </a:solidFill>
              </a:rPr>
              <a:t>웹 음원 파일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2880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C"/>
                </a:solidFill>
              </a:rPr>
              <a:t>WAV·MP3 파일 전체를 2초 단위로 분석하여 구간별 판정과 그래프를 확인하고, 기존 테스트 이력과 시스템 로그를 함께 조회합니다.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80360" cy="822960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4370832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32B46"/>
                </a:solidFill>
              </a:rPr>
              <a:t>파일 테스트는 업로드한 음원을 끝까지 분석하지만, 운영 중인 사업장의 위험 상태나 개폐기에는 영향을 주지 않습니다.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0B1628"/>
                </a:solidFill>
              </a:rPr>
              <a:t>페이지 소개 · 앱 대시보드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67748C"/>
                </a:solidFill>
              </a:rPr>
              <a:t>Android App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 07/12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987552"/>
            <a:ext cx="2880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대시보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78992"/>
            <a:ext cx="2570689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325880"/>
            <a:ext cx="6675120" cy="4206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600200"/>
            <a:ext cx="77724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628"/>
                </a:solidFill>
              </a:rPr>
              <a:t>앱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5897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7748C"/>
                </a:solidFill>
              </a:rPr>
              <a:t>모바일에서 전체 사업장 수와 정상·위험 현황을 요약하고, 사업장별 실시간 모니터링과 가상 개폐기 상태를 확인합니다.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251960"/>
            <a:ext cx="5806440" cy="868680"/>
          </a:xfrm>
          <a:prstGeom prst="roundRect">
            <a:avLst/>
          </a:prstGeom>
          <a:solidFill>
            <a:srgbClr val="E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38912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32B46"/>
                </a:solidFill>
              </a:rPr>
              <a:t>현장이나 이동 중에도 웹과 동일한 FastAPI 데이터를 사용해 핵심 상태를 빠르게 확인할 수 있습니다.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0B1628"/>
                </a:solidFill>
              </a:rPr>
              <a:t>페이지 소개 · 앱 사업장 관리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67748C"/>
                </a:solidFill>
              </a:rPr>
              <a:t>Android App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 08/12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987552"/>
            <a:ext cx="2880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사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78992"/>
            <a:ext cx="2567381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325880"/>
            <a:ext cx="6675120" cy="4206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600200"/>
            <a:ext cx="77724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628"/>
                </a:solidFill>
              </a:rPr>
              <a:t>앱 사업장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5897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7748C"/>
                </a:solidFill>
              </a:rPr>
              <a:t>등록 사업장을 상태별로 분류하고 검색하며, 각 사업장의 위치, 위험 여부, 개폐기 상태와 마지막 갱신 시각을 카드 형태로 제공합니다.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251960"/>
            <a:ext cx="5806440" cy="868680"/>
          </a:xfrm>
          <a:prstGeom prst="roundRect">
            <a:avLst/>
          </a:prstGeom>
          <a:solidFill>
            <a:srgbClr val="E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38912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32B46"/>
                </a:solidFill>
              </a:rPr>
              <a:t>모바일에서는 카드형 UI로 구성해 작은 화면에서도 사업장 상태를 쉽게 비교할 수 있도록 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0B1628"/>
                </a:solidFill>
              </a:rPr>
              <a:t>페이지 소개 · 앱 감지 이력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67748C"/>
                </a:solidFill>
              </a:rPr>
              <a:t>Android App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 09/12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987552"/>
            <a:ext cx="2880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모니터링_감지이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78992"/>
            <a:ext cx="2566877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325880"/>
            <a:ext cx="6675120" cy="4206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600200"/>
            <a:ext cx="77724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628"/>
                </a:solidFill>
              </a:rPr>
              <a:t>앱 감지 이력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5897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7748C"/>
                </a:solidFill>
              </a:rPr>
              <a:t>누적 감지 건수, 최근 말벌 감지 시각과 기간별 감지 추이를 제공하고, 개별 위험 이벤트를 시간순으로 확인합니다.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251960"/>
            <a:ext cx="5806440" cy="868680"/>
          </a:xfrm>
          <a:prstGeom prst="roundRect">
            <a:avLst/>
          </a:prstGeom>
          <a:solidFill>
            <a:srgbClr val="E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38912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32B46"/>
                </a:solidFill>
              </a:rPr>
              <a:t>서버에 저장된 기록을 기반으로, 언제 어느 사업장에서 위험이 발생했는지 모바일에서도 추적할 수 있습니다.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0B1628"/>
                </a:solidFill>
              </a:rPr>
              <a:t>페이지 소개 · 앱 실시간 분석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67748C"/>
                </a:solidFill>
              </a:rPr>
              <a:t>Android App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 10/12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987552"/>
            <a:ext cx="2880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모니터링_실시간분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78992"/>
            <a:ext cx="2570167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325880"/>
            <a:ext cx="6675120" cy="4206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600200"/>
            <a:ext cx="77724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628"/>
                </a:solidFill>
              </a:rPr>
              <a:t>앱 실시간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5897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7748C"/>
                </a:solidFill>
              </a:rPr>
              <a:t>모니터링할 사업장을 선택하면 연결 상태, 최신 AI 판정과 말벌 확률을 표시하며 일정 주기로 최신 결과를 갱신합니다.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251960"/>
            <a:ext cx="5806440" cy="868680"/>
          </a:xfrm>
          <a:prstGeom prst="roundRect">
            <a:avLst/>
          </a:prstGeom>
          <a:solidFill>
            <a:srgbClr val="E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38912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32B46"/>
                </a:solidFill>
              </a:rPr>
              <a:t>현재 판정과 말벌 확률을 중심으로 구성해 모바일에서도 위험 여부를 빠르게 판단할 수 있습니다.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0B1628"/>
                </a:solidFill>
              </a:rPr>
              <a:t>페이지 소개 · 앱 설정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67748C"/>
                </a:solidFill>
              </a:rPr>
              <a:t>Android App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 11/12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987552"/>
            <a:ext cx="2880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-설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78992"/>
            <a:ext cx="2566877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325880"/>
            <a:ext cx="6675120" cy="4206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600200"/>
            <a:ext cx="77724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628"/>
                </a:solidFill>
              </a:rPr>
              <a:t>앱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5897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7748C"/>
                </a:solidFill>
              </a:rPr>
              <a:t>시스템 연결 상태를 확인하고, 말벌 감지 알림·진동·자동 폐쇄 여부와 말벌 판정 기준을 모바일에서 설정합니다.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251960"/>
            <a:ext cx="5806440" cy="868680"/>
          </a:xfrm>
          <a:prstGeom prst="roundRect">
            <a:avLst/>
          </a:prstGeom>
          <a:solidFill>
            <a:srgbClr val="E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38912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32B46"/>
                </a:solidFill>
              </a:rPr>
              <a:t>알림과 자동 보호 정책을 모바일에서도 변경할 수 있으며, 웹과 같은 서버 설정을 공유합니다.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0B1628"/>
                </a:solidFill>
              </a:rPr>
              <a:t>페이지 소개 · 앱 음원 파일 테스트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67748C"/>
                </a:solidFill>
              </a:rPr>
              <a:t>Android App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 12/12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987552"/>
            <a:ext cx="2880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-테스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78992"/>
            <a:ext cx="2566877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325880"/>
            <a:ext cx="6675120" cy="4206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600200"/>
            <a:ext cx="77724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628"/>
                </a:solidFill>
              </a:rPr>
              <a:t>앱 음원 파일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5897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7748C"/>
                </a:solidFill>
              </a:rPr>
              <a:t>모바일에서 WAV·MP3 파일과 대상 사업장을 선택해 전체 음원을 2초 단위로 분석하고 기존 테스트 결과를 조회합니다.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251960"/>
            <a:ext cx="5806440" cy="868680"/>
          </a:xfrm>
          <a:prstGeom prst="roundRect">
            <a:avLst/>
          </a:prstGeom>
          <a:solidFill>
            <a:srgbClr val="E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38912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32B46"/>
                </a:solidFill>
              </a:rPr>
              <a:t>모바일 앱에서도 별도의 테스트 음원을 업로드해 CNN 분석 결과를 확인할 수 있도록 구현했습니다.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BUZZ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BUZZ - AI 음향 기반 말벌 감지 및 양봉장 관제</dc:title>
  <dc:subject>BUZZ Final Presentation</dc:subject>
  <dc:creator>OpenAI</dc:creator>
  <cp:lastModifiedBy>OpenAI</cp:lastModifiedBy>
  <cp:revision>1</cp:revision>
  <dcterms:created xsi:type="dcterms:W3CDTF">2026-09-15T02:03:39Z</dcterms:created>
  <dcterms:modified xsi:type="dcterms:W3CDTF">2026-09-15T02:03:39Z</dcterms:modified>
</cp:coreProperties>
</file>